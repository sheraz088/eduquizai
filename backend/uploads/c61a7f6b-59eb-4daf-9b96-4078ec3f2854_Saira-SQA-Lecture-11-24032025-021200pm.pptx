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sldIdLst>
    <p:sldId id="281" r:id="rId2"/>
    <p:sldId id="345" r:id="rId3"/>
    <p:sldId id="282" r:id="rId4"/>
    <p:sldId id="257" r:id="rId5"/>
    <p:sldId id="365" r:id="rId6"/>
    <p:sldId id="366" r:id="rId7"/>
    <p:sldId id="410" r:id="rId8"/>
    <p:sldId id="406" r:id="rId9"/>
    <p:sldId id="407" r:id="rId10"/>
    <p:sldId id="409" r:id="rId11"/>
    <p:sldId id="411" r:id="rId12"/>
    <p:sldId id="417" r:id="rId13"/>
    <p:sldId id="419" r:id="rId14"/>
    <p:sldId id="420" r:id="rId15"/>
    <p:sldId id="421" r:id="rId16"/>
    <p:sldId id="422" r:id="rId17"/>
    <p:sldId id="413" r:id="rId18"/>
    <p:sldId id="423" r:id="rId19"/>
    <p:sldId id="424" r:id="rId20"/>
    <p:sldId id="414" r:id="rId21"/>
    <p:sldId id="391" r:id="rId22"/>
    <p:sldId id="28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7" autoAdjust="0"/>
    <p:restoredTop sz="94660"/>
  </p:normalViewPr>
  <p:slideViewPr>
    <p:cSldViewPr snapToGrid="0">
      <p:cViewPr varScale="1">
        <p:scale>
          <a:sx n="72" d="100"/>
          <a:sy n="72" d="100"/>
        </p:scale>
        <p:origin x="70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42B76A-12D0-4CE8-B171-1D4B8D9A7F17}"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731960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42B76A-12D0-4CE8-B171-1D4B8D9A7F17}"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073142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42B76A-12D0-4CE8-B171-1D4B8D9A7F17}"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840708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25382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842B76A-12D0-4CE8-B171-1D4B8D9A7F17}" type="datetimeFigureOut">
              <a:rPr lang="en-US" smtClean="0"/>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2575774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842B76A-12D0-4CE8-B171-1D4B8D9A7F17}"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3045907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0842B76A-12D0-4CE8-B171-1D4B8D9A7F17}" type="datetimeFigureOut">
              <a:rPr lang="en-US" smtClean="0"/>
              <a:t>12/5/2023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989878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99673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3077764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4160209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410434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71474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42B76A-12D0-4CE8-B171-1D4B8D9A7F17}"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319234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842B76A-12D0-4CE8-B171-1D4B8D9A7F17}"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4014783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842B76A-12D0-4CE8-B171-1D4B8D9A7F17}"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2646444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42B76A-12D0-4CE8-B171-1D4B8D9A7F17}"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1164411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42B76A-12D0-4CE8-B171-1D4B8D9A7F17}"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3C0BE4-382A-4B6B-A4DD-092AECE52E03}" type="slidenum">
              <a:rPr lang="en-US" smtClean="0"/>
              <a:t>‹#›</a:t>
            </a:fld>
            <a:endParaRPr lang="en-US"/>
          </a:p>
        </p:txBody>
      </p:sp>
    </p:spTree>
    <p:extLst>
      <p:ext uri="{BB962C8B-B14F-4D97-AF65-F5344CB8AC3E}">
        <p14:creationId xmlns:p14="http://schemas.microsoft.com/office/powerpoint/2010/main" val="2872705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0842B76A-12D0-4CE8-B171-1D4B8D9A7F17}" type="datetimeFigureOut">
              <a:rPr lang="en-US" smtClean="0"/>
              <a:t>12/5/2023</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D3C0BE4-382A-4B6B-A4DD-092AECE52E03}" type="slidenum">
              <a:rPr lang="en-US" smtClean="0"/>
              <a:t>‹#›</a:t>
            </a:fld>
            <a:endParaRPr lang="en-US"/>
          </a:p>
        </p:txBody>
      </p:sp>
    </p:spTree>
    <p:extLst>
      <p:ext uri="{BB962C8B-B14F-4D97-AF65-F5344CB8AC3E}">
        <p14:creationId xmlns:p14="http://schemas.microsoft.com/office/powerpoint/2010/main" val="1084436526"/>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944416-0EBF-2BA4-A732-2FCA23747D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91" y="1749287"/>
            <a:ext cx="12174609" cy="4306956"/>
          </a:xfrm>
          <a:prstGeom prst="rect">
            <a:avLst/>
          </a:prstGeom>
        </p:spPr>
      </p:pic>
      <p:sp>
        <p:nvSpPr>
          <p:cNvPr id="5" name="Slide Number Placeholder 4">
            <a:extLst>
              <a:ext uri="{FF2B5EF4-FFF2-40B4-BE49-F238E27FC236}">
                <a16:creationId xmlns:a16="http://schemas.microsoft.com/office/drawing/2014/main" id="{0AA6BDF3-63F0-C072-300C-6A9FE061CFE4}"/>
              </a:ext>
            </a:extLst>
          </p:cNvPr>
          <p:cNvSpPr>
            <a:spLocks noGrp="1"/>
          </p:cNvSpPr>
          <p:nvPr>
            <p:ph type="sldNum" sz="quarter" idx="12"/>
          </p:nvPr>
        </p:nvSpPr>
        <p:spPr/>
        <p:txBody>
          <a:bodyPr/>
          <a:lstStyle/>
          <a:p>
            <a:fld id="{0214DE60-BA66-4C13-947A-1E138A7FD5AC}" type="slidenum">
              <a:rPr lang="en-US" smtClean="0"/>
              <a:t>1</a:t>
            </a:fld>
            <a:endParaRPr lang="en-US"/>
          </a:p>
        </p:txBody>
      </p:sp>
    </p:spTree>
    <p:extLst>
      <p:ext uri="{BB962C8B-B14F-4D97-AF65-F5344CB8AC3E}">
        <p14:creationId xmlns:p14="http://schemas.microsoft.com/office/powerpoint/2010/main" val="1122265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7C127-5218-7D32-27DA-BAF794BD31EE}"/>
              </a:ext>
            </a:extLst>
          </p:cNvPr>
          <p:cNvSpPr>
            <a:spLocks noGrp="1"/>
          </p:cNvSpPr>
          <p:nvPr>
            <p:ph type="title"/>
          </p:nvPr>
        </p:nvSpPr>
        <p:spPr>
          <a:xfrm>
            <a:off x="913775" y="618517"/>
            <a:ext cx="10364451" cy="1265701"/>
          </a:xfrm>
        </p:spPr>
        <p:txBody>
          <a:bodyPr/>
          <a:lstStyle/>
          <a:p>
            <a:pPr algn="l"/>
            <a:r>
              <a:rPr lang="en-US" cap="none" dirty="0"/>
              <a:t>Word of Wisdom</a:t>
            </a:r>
          </a:p>
        </p:txBody>
      </p:sp>
      <p:sp>
        <p:nvSpPr>
          <p:cNvPr id="3" name="Content Placeholder 2">
            <a:extLst>
              <a:ext uri="{FF2B5EF4-FFF2-40B4-BE49-F238E27FC236}">
                <a16:creationId xmlns:a16="http://schemas.microsoft.com/office/drawing/2014/main" id="{F31EBF3A-82BF-46CC-0282-79DC218B58AD}"/>
              </a:ext>
            </a:extLst>
          </p:cNvPr>
          <p:cNvSpPr>
            <a:spLocks noGrp="1"/>
          </p:cNvSpPr>
          <p:nvPr>
            <p:ph sz="quarter" idx="13"/>
          </p:nvPr>
        </p:nvSpPr>
        <p:spPr>
          <a:xfrm>
            <a:off x="913774" y="1510748"/>
            <a:ext cx="10363826" cy="4280451"/>
          </a:xfrm>
        </p:spPr>
        <p:txBody>
          <a:bodyPr/>
          <a:lstStyle/>
          <a:p>
            <a:r>
              <a:rPr lang="en-US" sz="3200" cap="none"/>
              <a:t>Never Give up.</a:t>
            </a:r>
            <a:r>
              <a:rPr lang="en-US" cap="none"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518930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E77CA-9529-C2D2-093F-22FDF66FB51B}"/>
              </a:ext>
            </a:extLst>
          </p:cNvPr>
          <p:cNvSpPr>
            <a:spLocks noGrp="1"/>
          </p:cNvSpPr>
          <p:nvPr>
            <p:ph type="ctrTitle"/>
          </p:nvPr>
        </p:nvSpPr>
        <p:spPr>
          <a:xfrm>
            <a:off x="1751012" y="734292"/>
            <a:ext cx="8689976" cy="928254"/>
          </a:xfrm>
        </p:spPr>
        <p:txBody>
          <a:bodyPr>
            <a:normAutofit fontScale="90000"/>
          </a:bodyPr>
          <a:lstStyle/>
          <a:p>
            <a:r>
              <a:rPr lang="en-US" dirty="0"/>
              <a:t> </a:t>
            </a:r>
            <a:r>
              <a:rPr lang="en-US" dirty="0" err="1"/>
              <a:t>sOftware</a:t>
            </a:r>
            <a:r>
              <a:rPr lang="en-US" dirty="0"/>
              <a:t> Quality Assurance</a:t>
            </a:r>
          </a:p>
        </p:txBody>
      </p:sp>
      <p:sp>
        <p:nvSpPr>
          <p:cNvPr id="3" name="Subtitle 2">
            <a:extLst>
              <a:ext uri="{FF2B5EF4-FFF2-40B4-BE49-F238E27FC236}">
                <a16:creationId xmlns:a16="http://schemas.microsoft.com/office/drawing/2014/main" id="{AAC1A5BF-344D-CF34-D178-D028BE9A11C3}"/>
              </a:ext>
            </a:extLst>
          </p:cNvPr>
          <p:cNvSpPr>
            <a:spLocks noGrp="1"/>
          </p:cNvSpPr>
          <p:nvPr>
            <p:ph type="subTitle" idx="1"/>
          </p:nvPr>
        </p:nvSpPr>
        <p:spPr>
          <a:xfrm>
            <a:off x="1751011" y="2133600"/>
            <a:ext cx="9360333" cy="4322618"/>
          </a:xfrm>
        </p:spPr>
        <p:txBody>
          <a:bodyPr>
            <a:normAutofit fontScale="70000" lnSpcReduction="20000"/>
          </a:bodyPr>
          <a:lstStyle/>
          <a:p>
            <a:pPr algn="l"/>
            <a:endParaRPr lang="en-US" dirty="0"/>
          </a:p>
          <a:p>
            <a:pPr algn="l"/>
            <a:endParaRPr lang="en-US" dirty="0"/>
          </a:p>
          <a:p>
            <a:pPr algn="l"/>
            <a:r>
              <a:rPr lang="en-US" sz="3500" b="1" dirty="0"/>
              <a:t>By:</a:t>
            </a:r>
          </a:p>
          <a:p>
            <a:pPr algn="l"/>
            <a:r>
              <a:rPr lang="en-US" sz="3500" b="1" dirty="0" err="1"/>
              <a:t>Saira</a:t>
            </a:r>
            <a:r>
              <a:rPr lang="en-US" sz="3500" b="1" dirty="0"/>
              <a:t> Hameed</a:t>
            </a:r>
          </a:p>
          <a:p>
            <a:pPr algn="l"/>
            <a:r>
              <a:rPr lang="en-US" sz="3500" b="1" dirty="0"/>
              <a:t>Lecturer</a:t>
            </a:r>
          </a:p>
          <a:p>
            <a:endParaRPr lang="en-US" dirty="0"/>
          </a:p>
          <a:p>
            <a:endParaRPr lang="en-US" dirty="0"/>
          </a:p>
          <a:p>
            <a:endParaRPr lang="en-US" dirty="0"/>
          </a:p>
          <a:p>
            <a:endParaRPr lang="en-US" dirty="0"/>
          </a:p>
          <a:p>
            <a:r>
              <a:rPr lang="en-US" sz="3600" b="1" dirty="0"/>
              <a:t>Bahria University, Islamabad</a:t>
            </a:r>
          </a:p>
          <a:p>
            <a:endParaRPr lang="en-US" dirty="0"/>
          </a:p>
        </p:txBody>
      </p:sp>
      <p:pic>
        <p:nvPicPr>
          <p:cNvPr id="5" name="Picture 4">
            <a:extLst>
              <a:ext uri="{FF2B5EF4-FFF2-40B4-BE49-F238E27FC236}">
                <a16:creationId xmlns:a16="http://schemas.microsoft.com/office/drawing/2014/main" id="{36D37BE9-15FE-F952-8461-0A1836B8BD34}"/>
              </a:ext>
            </a:extLst>
          </p:cNvPr>
          <p:cNvPicPr>
            <a:picLocks noChangeAspect="1"/>
          </p:cNvPicPr>
          <p:nvPr/>
        </p:nvPicPr>
        <p:blipFill>
          <a:blip r:embed="rId2"/>
          <a:stretch>
            <a:fillRect/>
          </a:stretch>
        </p:blipFill>
        <p:spPr>
          <a:xfrm>
            <a:off x="9033178" y="2000871"/>
            <a:ext cx="2078166" cy="3061459"/>
          </a:xfrm>
          <a:prstGeom prst="rect">
            <a:avLst/>
          </a:prstGeom>
        </p:spPr>
      </p:pic>
    </p:spTree>
    <p:extLst>
      <p:ext uri="{BB962C8B-B14F-4D97-AF65-F5344CB8AC3E}">
        <p14:creationId xmlns:p14="http://schemas.microsoft.com/office/powerpoint/2010/main" val="961959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7C127-5218-7D32-27DA-BAF794BD31EE}"/>
              </a:ext>
            </a:extLst>
          </p:cNvPr>
          <p:cNvSpPr>
            <a:spLocks noGrp="1"/>
          </p:cNvSpPr>
          <p:nvPr>
            <p:ph type="title"/>
          </p:nvPr>
        </p:nvSpPr>
        <p:spPr>
          <a:xfrm>
            <a:off x="913775" y="618517"/>
            <a:ext cx="10364451" cy="1265701"/>
          </a:xfrm>
        </p:spPr>
        <p:txBody>
          <a:bodyPr/>
          <a:lstStyle/>
          <a:p>
            <a:pPr algn="l"/>
            <a:r>
              <a:rPr lang="en-US" cap="none" dirty="0"/>
              <a:t>Software Quality Assurance</a:t>
            </a:r>
          </a:p>
        </p:txBody>
      </p:sp>
      <p:sp>
        <p:nvSpPr>
          <p:cNvPr id="3" name="Content Placeholder 2">
            <a:extLst>
              <a:ext uri="{FF2B5EF4-FFF2-40B4-BE49-F238E27FC236}">
                <a16:creationId xmlns:a16="http://schemas.microsoft.com/office/drawing/2014/main" id="{F31EBF3A-82BF-46CC-0282-79DC218B58AD}"/>
              </a:ext>
            </a:extLst>
          </p:cNvPr>
          <p:cNvSpPr>
            <a:spLocks noGrp="1"/>
          </p:cNvSpPr>
          <p:nvPr>
            <p:ph sz="quarter" idx="13"/>
          </p:nvPr>
        </p:nvSpPr>
        <p:spPr>
          <a:xfrm>
            <a:off x="913774" y="1717964"/>
            <a:ext cx="10363826" cy="4073235"/>
          </a:xfrm>
        </p:spPr>
        <p:txBody>
          <a:bodyPr/>
          <a:lstStyle/>
          <a:p>
            <a:pPr marL="0" indent="0">
              <a:buNone/>
            </a:pPr>
            <a:r>
              <a:rPr lang="en-US" dirty="0"/>
              <a:t>		</a:t>
            </a:r>
          </a:p>
          <a:p>
            <a:pPr marL="0" indent="0">
              <a:buNone/>
            </a:pPr>
            <a:endParaRPr lang="en-US" dirty="0"/>
          </a:p>
          <a:p>
            <a:pPr marL="0" indent="0">
              <a:buNone/>
            </a:pPr>
            <a:endParaRPr lang="en-US" dirty="0"/>
          </a:p>
          <a:p>
            <a:pPr marL="0" indent="0" algn="ctr">
              <a:buNone/>
            </a:pPr>
            <a:r>
              <a:rPr lang="en-US" sz="3200" b="1" dirty="0"/>
              <a:t>LECTURE 11</a:t>
            </a:r>
          </a:p>
        </p:txBody>
      </p:sp>
    </p:spTree>
    <p:extLst>
      <p:ext uri="{BB962C8B-B14F-4D97-AF65-F5344CB8AC3E}">
        <p14:creationId xmlns:p14="http://schemas.microsoft.com/office/powerpoint/2010/main" val="2279625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2263-859C-5C9B-DDE6-8D3FCAC7330D}"/>
              </a:ext>
            </a:extLst>
          </p:cNvPr>
          <p:cNvSpPr>
            <a:spLocks noGrp="1"/>
          </p:cNvSpPr>
          <p:nvPr>
            <p:ph type="title"/>
          </p:nvPr>
        </p:nvSpPr>
        <p:spPr>
          <a:xfrm>
            <a:off x="913775" y="618517"/>
            <a:ext cx="10364451" cy="850065"/>
          </a:xfrm>
        </p:spPr>
        <p:txBody>
          <a:bodyPr/>
          <a:lstStyle/>
          <a:p>
            <a:pPr algn="l"/>
            <a:r>
              <a:rPr lang="en-US" cap="none" dirty="0"/>
              <a:t>Lecture 10 Revision</a:t>
            </a:r>
          </a:p>
        </p:txBody>
      </p:sp>
      <p:sp>
        <p:nvSpPr>
          <p:cNvPr id="3" name="Content Placeholder 2">
            <a:extLst>
              <a:ext uri="{FF2B5EF4-FFF2-40B4-BE49-F238E27FC236}">
                <a16:creationId xmlns:a16="http://schemas.microsoft.com/office/drawing/2014/main" id="{A5A94192-AF7D-8C3A-DBD1-09F7F2DD721F}"/>
              </a:ext>
            </a:extLst>
          </p:cNvPr>
          <p:cNvSpPr>
            <a:spLocks noGrp="1"/>
          </p:cNvSpPr>
          <p:nvPr>
            <p:ph sz="quarter" idx="13"/>
          </p:nvPr>
        </p:nvSpPr>
        <p:spPr>
          <a:xfrm>
            <a:off x="913774" y="1468582"/>
            <a:ext cx="10363826" cy="4876801"/>
          </a:xfrm>
        </p:spPr>
        <p:txBody>
          <a:bodyPr>
            <a:normAutofit lnSpcReduction="10000"/>
          </a:bodyPr>
          <a:lstStyle/>
          <a:p>
            <a:pPr algn="just"/>
            <a:r>
              <a:rPr lang="en-US" sz="2800" cap="none" dirty="0"/>
              <a:t>Why Test Software?</a:t>
            </a:r>
          </a:p>
          <a:p>
            <a:pPr algn="just"/>
            <a:r>
              <a:rPr lang="en-US" sz="2800" cap="none" dirty="0"/>
              <a:t>What Do we test?</a:t>
            </a:r>
          </a:p>
          <a:p>
            <a:pPr algn="just"/>
            <a:r>
              <a:rPr lang="en-US" sz="2800" cap="none" dirty="0"/>
              <a:t>Testing Factors</a:t>
            </a:r>
          </a:p>
          <a:p>
            <a:pPr algn="just"/>
            <a:r>
              <a:rPr lang="en-US" sz="2800" cap="none" dirty="0"/>
              <a:t>The V-Model Of Software Testing</a:t>
            </a:r>
          </a:p>
          <a:p>
            <a:pPr algn="just"/>
            <a:r>
              <a:rPr lang="en-US" sz="2800" cap="none" dirty="0"/>
              <a:t>The Test Plan</a:t>
            </a:r>
          </a:p>
          <a:p>
            <a:pPr algn="just"/>
            <a:r>
              <a:rPr lang="en-US" sz="2800" cap="none" dirty="0"/>
              <a:t>Testing Is A Process</a:t>
            </a:r>
          </a:p>
          <a:p>
            <a:pPr algn="just"/>
            <a:r>
              <a:rPr lang="en-US" sz="2800" cap="none" dirty="0"/>
              <a:t>Test Plan Terminology</a:t>
            </a:r>
          </a:p>
          <a:p>
            <a:pPr algn="just"/>
            <a:r>
              <a:rPr lang="en-US" sz="2800" cap="none" dirty="0"/>
              <a:t>Type of Software Tests</a:t>
            </a:r>
          </a:p>
          <a:p>
            <a:pPr marL="0" indent="0" algn="just">
              <a:buNone/>
            </a:pPr>
            <a:endParaRPr lang="en-US" sz="2800" cap="none" dirty="0"/>
          </a:p>
          <a:p>
            <a:pPr algn="just"/>
            <a:endParaRPr lang="en-US" sz="2800" cap="none" dirty="0"/>
          </a:p>
          <a:p>
            <a:pPr algn="just"/>
            <a:endParaRPr lang="en-US" sz="2800" cap="none" dirty="0"/>
          </a:p>
        </p:txBody>
      </p:sp>
    </p:spTree>
    <p:extLst>
      <p:ext uri="{BB962C8B-B14F-4D97-AF65-F5344CB8AC3E}">
        <p14:creationId xmlns:p14="http://schemas.microsoft.com/office/powerpoint/2010/main" val="2550828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a:t>
            </a:r>
          </a:p>
        </p:txBody>
      </p:sp>
      <p:sp>
        <p:nvSpPr>
          <p:cNvPr id="3" name="Content Placeholder 2"/>
          <p:cNvSpPr>
            <a:spLocks noGrp="1"/>
          </p:cNvSpPr>
          <p:nvPr>
            <p:ph sz="quarter" idx="13"/>
          </p:nvPr>
        </p:nvSpPr>
        <p:spPr>
          <a:xfrm>
            <a:off x="913774" y="1399309"/>
            <a:ext cx="10363826" cy="5091643"/>
          </a:xfrm>
        </p:spPr>
        <p:txBody>
          <a:bodyPr>
            <a:normAutofit/>
          </a:bodyPr>
          <a:lstStyle/>
          <a:p>
            <a:pPr algn="just"/>
            <a:r>
              <a:rPr lang="en-US" sz="2400" cap="none" dirty="0"/>
              <a:t>Test design is a process that defines how testing has to be done. </a:t>
            </a:r>
          </a:p>
          <a:p>
            <a:pPr algn="just"/>
            <a:r>
              <a:rPr lang="en-US" sz="2400" cap="none" dirty="0"/>
              <a:t>It involves the process of identifying the testing techniques, test scenarios, test cases, test data, and expected test results.</a:t>
            </a:r>
          </a:p>
          <a:p>
            <a:pPr algn="just"/>
            <a:r>
              <a:rPr lang="en-US" sz="2400" cap="none" dirty="0"/>
              <a:t>Also, testers need to be specific about the test cases they create, such as providing specific inputs, steps, and test data for each test case.</a:t>
            </a:r>
          </a:p>
        </p:txBody>
      </p:sp>
    </p:spTree>
    <p:extLst>
      <p:ext uri="{BB962C8B-B14F-4D97-AF65-F5344CB8AC3E}">
        <p14:creationId xmlns:p14="http://schemas.microsoft.com/office/powerpoint/2010/main" val="3724262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Purpose of Test Design</a:t>
            </a:r>
          </a:p>
        </p:txBody>
      </p:sp>
      <p:sp>
        <p:nvSpPr>
          <p:cNvPr id="3" name="Content Placeholder 2"/>
          <p:cNvSpPr>
            <a:spLocks noGrp="1"/>
          </p:cNvSpPr>
          <p:nvPr>
            <p:ph sz="quarter" idx="13"/>
          </p:nvPr>
        </p:nvSpPr>
        <p:spPr>
          <a:xfrm>
            <a:off x="913774" y="1351723"/>
            <a:ext cx="10363826" cy="5139230"/>
          </a:xfrm>
        </p:spPr>
        <p:txBody>
          <a:bodyPr>
            <a:normAutofit lnSpcReduction="10000"/>
          </a:bodyPr>
          <a:lstStyle/>
          <a:p>
            <a:pPr algn="just"/>
            <a:r>
              <a:rPr lang="en-US" sz="2400" cap="none" dirty="0"/>
              <a:t>Software testing, like all processes, is an investment and is considered successful when it provides an ROI. </a:t>
            </a:r>
          </a:p>
          <a:p>
            <a:pPr algn="just"/>
            <a:r>
              <a:rPr lang="en-US" sz="2400" cap="none" dirty="0"/>
              <a:t>To calculate the Return on Investment (ROI) of test automation, one must compare the benefits and costs of test automation over a period of time and express it as a percentage or a ratio. One of the most common and simple formulas to do this is ROI = (Benefits - Costs) / Costs * 100%.</a:t>
            </a:r>
          </a:p>
          <a:p>
            <a:pPr algn="just"/>
            <a:r>
              <a:rPr lang="en-US" sz="2400" cap="none" dirty="0"/>
              <a:t>To ensure, we are getting the ROI; it has to be tracked too. </a:t>
            </a:r>
          </a:p>
          <a:p>
            <a:pPr algn="just"/>
            <a:r>
              <a:rPr lang="en-US" sz="2400" cap="none" dirty="0"/>
              <a:t>One factor that will create an impact on the ROI, is the effectiveness of the test strategy. </a:t>
            </a:r>
          </a:p>
          <a:p>
            <a:pPr algn="just"/>
            <a:r>
              <a:rPr lang="en-US" sz="2400" cap="none" dirty="0"/>
              <a:t>An effective test design will largely dictate the effectiveness of the testing strategy, thus the ROI from the software testing process.</a:t>
            </a:r>
          </a:p>
        </p:txBody>
      </p:sp>
    </p:spTree>
    <p:extLst>
      <p:ext uri="{BB962C8B-B14F-4D97-AF65-F5344CB8AC3E}">
        <p14:creationId xmlns:p14="http://schemas.microsoft.com/office/powerpoint/2010/main" val="2835241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724043" cy="1140562"/>
          </a:xfrm>
        </p:spPr>
        <p:txBody>
          <a:bodyPr>
            <a:noAutofit/>
          </a:bodyPr>
          <a:lstStyle/>
          <a:p>
            <a:pPr algn="l"/>
            <a:r>
              <a:rPr lang="en-US" cap="none" dirty="0"/>
              <a:t>When to Create a Test Design</a:t>
            </a:r>
          </a:p>
        </p:txBody>
      </p:sp>
      <p:sp>
        <p:nvSpPr>
          <p:cNvPr id="3" name="Content Placeholder 2"/>
          <p:cNvSpPr>
            <a:spLocks noGrp="1"/>
          </p:cNvSpPr>
          <p:nvPr>
            <p:ph sz="quarter" idx="13"/>
          </p:nvPr>
        </p:nvSpPr>
        <p:spPr>
          <a:xfrm>
            <a:off x="913774" y="1399309"/>
            <a:ext cx="10363826" cy="5458691"/>
          </a:xfrm>
        </p:spPr>
        <p:txBody>
          <a:bodyPr>
            <a:normAutofit/>
          </a:bodyPr>
          <a:lstStyle/>
          <a:p>
            <a:pPr algn="just"/>
            <a:r>
              <a:rPr lang="en-US" sz="2600" cap="none" dirty="0"/>
              <a:t>Test design should be created once the test conditions are defined, and adequate information is available to create the test cases of both high and low levels.</a:t>
            </a:r>
            <a:endParaRPr lang="en-US" sz="2400" cap="none" dirty="0"/>
          </a:p>
        </p:txBody>
      </p:sp>
    </p:spTree>
    <p:extLst>
      <p:ext uri="{BB962C8B-B14F-4D97-AF65-F5344CB8AC3E}">
        <p14:creationId xmlns:p14="http://schemas.microsoft.com/office/powerpoint/2010/main" val="3742654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Why is Test Design Important for Test Automation?</a:t>
            </a:r>
          </a:p>
        </p:txBody>
      </p:sp>
      <p:sp>
        <p:nvSpPr>
          <p:cNvPr id="3" name="Content Placeholder 2"/>
          <p:cNvSpPr>
            <a:spLocks noGrp="1"/>
          </p:cNvSpPr>
          <p:nvPr>
            <p:ph sz="quarter" idx="13"/>
          </p:nvPr>
        </p:nvSpPr>
        <p:spPr>
          <a:xfrm>
            <a:off x="913774" y="1399309"/>
            <a:ext cx="10363826" cy="5091643"/>
          </a:xfrm>
        </p:spPr>
        <p:txBody>
          <a:bodyPr>
            <a:normAutofit/>
          </a:bodyPr>
          <a:lstStyle/>
          <a:p>
            <a:pPr algn="just"/>
            <a:r>
              <a:rPr lang="en-US" sz="2200" cap="none" dirty="0"/>
              <a:t>Just as Test Design is important for an effective test strategy, a well-defined test design plays an important role in the success of test automation too.</a:t>
            </a:r>
          </a:p>
          <a:p>
            <a:pPr algn="just"/>
            <a:r>
              <a:rPr lang="en-US" sz="2200" cap="none" dirty="0"/>
              <a:t>It is a crucial activity that helps determine the effectiveness of automated test cases in identifying bugs and is highly essential for quality control and testing.</a:t>
            </a:r>
          </a:p>
          <a:p>
            <a:pPr algn="just"/>
            <a:r>
              <a:rPr lang="en-US" sz="2200" cap="none" dirty="0"/>
              <a:t>For the effectiveness of test automation, you also need to have a test automation tool that supports your goals. Thus, choosing the right test automation tool is vital, as also stated by a report that said: 26% of companies consider finding the right tools for automation testing as their biggest challenge.</a:t>
            </a:r>
          </a:p>
        </p:txBody>
      </p:sp>
    </p:spTree>
    <p:extLst>
      <p:ext uri="{BB962C8B-B14F-4D97-AF65-F5344CB8AC3E}">
        <p14:creationId xmlns:p14="http://schemas.microsoft.com/office/powerpoint/2010/main" val="3769050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654770" cy="1140562"/>
          </a:xfrm>
        </p:spPr>
        <p:txBody>
          <a:bodyPr>
            <a:noAutofit/>
          </a:bodyPr>
          <a:lstStyle/>
          <a:p>
            <a:pPr algn="l"/>
            <a:r>
              <a:rPr lang="en-US" cap="none" dirty="0"/>
              <a:t>How Is Test Design Done?</a:t>
            </a:r>
          </a:p>
        </p:txBody>
      </p:sp>
      <p:sp>
        <p:nvSpPr>
          <p:cNvPr id="3" name="Content Placeholder 2"/>
          <p:cNvSpPr>
            <a:spLocks noGrp="1"/>
          </p:cNvSpPr>
          <p:nvPr>
            <p:ph sz="quarter" idx="13"/>
          </p:nvPr>
        </p:nvSpPr>
        <p:spPr>
          <a:xfrm>
            <a:off x="913774" y="1399309"/>
            <a:ext cx="10363826" cy="5458691"/>
          </a:xfrm>
        </p:spPr>
        <p:txBody>
          <a:bodyPr>
            <a:normAutofit/>
          </a:bodyPr>
          <a:lstStyle/>
          <a:p>
            <a:pPr algn="just"/>
            <a:r>
              <a:rPr lang="en-US" sz="2400" cap="none" dirty="0"/>
              <a:t>Test design is done using several test design techniques. The following is a list of some of the top design techniques,</a:t>
            </a:r>
          </a:p>
          <a:p>
            <a:pPr lvl="1" algn="just"/>
            <a:r>
              <a:rPr lang="en-US" sz="2200" cap="none" dirty="0"/>
              <a:t>Equivalence Class Testing</a:t>
            </a:r>
          </a:p>
          <a:p>
            <a:pPr lvl="1" algn="just"/>
            <a:r>
              <a:rPr lang="en-US" sz="2200" cap="none" dirty="0"/>
              <a:t>State Transition</a:t>
            </a:r>
          </a:p>
          <a:p>
            <a:pPr lvl="1" algn="just"/>
            <a:r>
              <a:rPr lang="en-US" sz="2200" cap="none" dirty="0"/>
              <a:t>Exploratory Testing</a:t>
            </a:r>
          </a:p>
          <a:p>
            <a:pPr lvl="1" algn="just"/>
            <a:r>
              <a:rPr lang="en-US" sz="2200" cap="none" dirty="0"/>
              <a:t>Boundary value analysis</a:t>
            </a:r>
          </a:p>
          <a:p>
            <a:pPr lvl="1" algn="just"/>
            <a:r>
              <a:rPr lang="en-US" sz="2200" cap="none" dirty="0"/>
              <a:t>Pairwise test design</a:t>
            </a:r>
          </a:p>
          <a:p>
            <a:pPr lvl="1" algn="just"/>
            <a:r>
              <a:rPr lang="en-US" sz="2200" cap="none" dirty="0"/>
              <a:t>Error guessing test design</a:t>
            </a:r>
          </a:p>
        </p:txBody>
      </p:sp>
    </p:spTree>
    <p:extLst>
      <p:ext uri="{BB962C8B-B14F-4D97-AF65-F5344CB8AC3E}">
        <p14:creationId xmlns:p14="http://schemas.microsoft.com/office/powerpoint/2010/main" val="1938824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Techniques</a:t>
            </a:r>
          </a:p>
        </p:txBody>
      </p:sp>
      <p:sp>
        <p:nvSpPr>
          <p:cNvPr id="3" name="Content Placeholder 2">
            <a:extLst>
              <a:ext uri="{FF2B5EF4-FFF2-40B4-BE49-F238E27FC236}">
                <a16:creationId xmlns:a16="http://schemas.microsoft.com/office/drawing/2014/main" id="{DF1CB03D-E095-CC27-27B9-18183598647C}"/>
              </a:ext>
            </a:extLst>
          </p:cNvPr>
          <p:cNvSpPr>
            <a:spLocks noGrp="1"/>
          </p:cNvSpPr>
          <p:nvPr>
            <p:ph sz="quarter" idx="13"/>
          </p:nvPr>
        </p:nvSpPr>
        <p:spPr>
          <a:xfrm>
            <a:off x="913774" y="1404730"/>
            <a:ext cx="10363826" cy="5453270"/>
          </a:xfrm>
        </p:spPr>
        <p:txBody>
          <a:bodyPr>
            <a:normAutofit fontScale="92500" lnSpcReduction="20000"/>
          </a:bodyPr>
          <a:lstStyle/>
          <a:p>
            <a:r>
              <a:rPr lang="en-US" b="1" dirty="0"/>
              <a:t>1. </a:t>
            </a:r>
            <a:r>
              <a:rPr lang="en-US" b="1" cap="none" dirty="0"/>
              <a:t>Equivalence Class Testing</a:t>
            </a:r>
          </a:p>
          <a:p>
            <a:r>
              <a:rPr lang="en-US" cap="none" dirty="0"/>
              <a:t>Equivalence class testing, also known as equivalence class partitioning, is a test design technique that lets you partition your test data into equivalent classes or sections.</a:t>
            </a:r>
          </a:p>
          <a:p>
            <a:r>
              <a:rPr lang="en-US" cap="none" dirty="0"/>
              <a:t>It aims to reduce the number of test cases required to test a product by dividing the input domain into a set of equivalence classes. You can use this whenever an input field has a range like age.</a:t>
            </a:r>
          </a:p>
          <a:p>
            <a:r>
              <a:rPr lang="en-US" b="1" cap="none" dirty="0"/>
              <a:t>Example:</a:t>
            </a:r>
          </a:p>
          <a:p>
            <a:r>
              <a:rPr lang="en-US" cap="none" dirty="0"/>
              <a:t>Consider a gaming website has a form that requires users to enter their age. And the form specifies that the age has to be between 18 and 60. Now, using the equivalence class partitioning technique, you can divide the input range into three partitions, as follows,</a:t>
            </a:r>
          </a:p>
          <a:p>
            <a:r>
              <a:rPr lang="en-US" cap="none" dirty="0"/>
              <a:t>1 to 17 (invalid)</a:t>
            </a:r>
          </a:p>
          <a:p>
            <a:r>
              <a:rPr lang="en-US" cap="none" dirty="0"/>
              <a:t>18 to 60 (valid)</a:t>
            </a:r>
          </a:p>
          <a:p>
            <a:r>
              <a:rPr lang="en-US" cap="none" dirty="0"/>
              <a:t>&gt;60 (invalid)</a:t>
            </a:r>
          </a:p>
          <a:p>
            <a:r>
              <a:rPr lang="en-US" cap="none" dirty="0"/>
              <a:t>By partitioning the input range into equal partitions, you can create test cases that cover all possible scenarios. This way, you can easily make sure that your form is working correctly without testing every possible number between 18 and 60.</a:t>
            </a:r>
          </a:p>
        </p:txBody>
      </p:sp>
    </p:spTree>
    <p:extLst>
      <p:ext uri="{BB962C8B-B14F-4D97-AF65-F5344CB8AC3E}">
        <p14:creationId xmlns:p14="http://schemas.microsoft.com/office/powerpoint/2010/main" val="2288365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Techniques</a:t>
            </a:r>
          </a:p>
        </p:txBody>
      </p:sp>
      <p:sp>
        <p:nvSpPr>
          <p:cNvPr id="3" name="Content Placeholder 2">
            <a:extLst>
              <a:ext uri="{FF2B5EF4-FFF2-40B4-BE49-F238E27FC236}">
                <a16:creationId xmlns:a16="http://schemas.microsoft.com/office/drawing/2014/main" id="{DF1CB03D-E095-CC27-27B9-18183598647C}"/>
              </a:ext>
            </a:extLst>
          </p:cNvPr>
          <p:cNvSpPr>
            <a:spLocks noGrp="1"/>
          </p:cNvSpPr>
          <p:nvPr>
            <p:ph sz="quarter" idx="13"/>
          </p:nvPr>
        </p:nvSpPr>
        <p:spPr>
          <a:xfrm>
            <a:off x="913774" y="1404730"/>
            <a:ext cx="10363826" cy="5453270"/>
          </a:xfrm>
        </p:spPr>
        <p:txBody>
          <a:bodyPr>
            <a:normAutofit/>
          </a:bodyPr>
          <a:lstStyle/>
          <a:p>
            <a:pPr algn="just"/>
            <a:r>
              <a:rPr lang="en-US" sz="2200" b="1" cap="none" dirty="0"/>
              <a:t>2. State Transitioning</a:t>
            </a:r>
          </a:p>
          <a:p>
            <a:pPr algn="just"/>
            <a:r>
              <a:rPr lang="en-US" sz="2200" cap="none" dirty="0"/>
              <a:t>It is a type of black box testing that is performed to check the change in the application’s state under various inputs.</a:t>
            </a:r>
          </a:p>
          <a:p>
            <a:pPr algn="just"/>
            <a:r>
              <a:rPr lang="en-US" sz="2200" cap="none" dirty="0"/>
              <a:t> This testing is used where different system transitions have to be tested.</a:t>
            </a:r>
          </a:p>
        </p:txBody>
      </p:sp>
      <p:pic>
        <p:nvPicPr>
          <p:cNvPr id="4" name="Picture 2" descr="State Transitioning">
            <a:extLst>
              <a:ext uri="{FF2B5EF4-FFF2-40B4-BE49-F238E27FC236}">
                <a16:creationId xmlns:a16="http://schemas.microsoft.com/office/drawing/2014/main" id="{D57E5350-5E91-9FE8-93EE-4CE8244FE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9705" y="3429000"/>
            <a:ext cx="6453808" cy="3388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357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Techniques</a:t>
            </a:r>
          </a:p>
        </p:txBody>
      </p:sp>
      <p:sp>
        <p:nvSpPr>
          <p:cNvPr id="3" name="Content Placeholder 2">
            <a:extLst>
              <a:ext uri="{FF2B5EF4-FFF2-40B4-BE49-F238E27FC236}">
                <a16:creationId xmlns:a16="http://schemas.microsoft.com/office/drawing/2014/main" id="{DF1CB03D-E095-CC27-27B9-18183598647C}"/>
              </a:ext>
            </a:extLst>
          </p:cNvPr>
          <p:cNvSpPr>
            <a:spLocks noGrp="1"/>
          </p:cNvSpPr>
          <p:nvPr>
            <p:ph sz="quarter" idx="13"/>
          </p:nvPr>
        </p:nvSpPr>
        <p:spPr>
          <a:xfrm>
            <a:off x="913774" y="1404730"/>
            <a:ext cx="10363826" cy="5453270"/>
          </a:xfrm>
        </p:spPr>
        <p:txBody>
          <a:bodyPr>
            <a:normAutofit/>
          </a:bodyPr>
          <a:lstStyle/>
          <a:p>
            <a:pPr algn="just"/>
            <a:r>
              <a:rPr lang="en-US" sz="2200" b="1" cap="none" dirty="0"/>
              <a:t>2. State Transitioning</a:t>
            </a:r>
          </a:p>
          <a:p>
            <a:pPr algn="just"/>
            <a:r>
              <a:rPr lang="en-US" sz="2200" b="1" cap="none" dirty="0"/>
              <a:t>State Transition Diagram </a:t>
            </a:r>
            <a:r>
              <a:rPr lang="en-US" sz="2200" cap="none" dirty="0"/>
              <a:t>Above is a state transition diagram that needs to be tested, it depicts how a system’s state changes on specific inputs. The four main components for a state transition diagram are as follows:</a:t>
            </a:r>
          </a:p>
          <a:p>
            <a:pPr marL="914400" lvl="1" indent="-457200" algn="just">
              <a:buFont typeface="+mj-lt"/>
              <a:buAutoNum type="arabicPeriod"/>
            </a:pPr>
            <a:r>
              <a:rPr lang="en-US" sz="2200" cap="none" dirty="0"/>
              <a:t>States</a:t>
            </a:r>
          </a:p>
          <a:p>
            <a:pPr marL="914400" lvl="1" indent="-457200" algn="just">
              <a:buFont typeface="+mj-lt"/>
              <a:buAutoNum type="arabicPeriod"/>
            </a:pPr>
            <a:r>
              <a:rPr lang="en-US" sz="2200" cap="none" dirty="0"/>
              <a:t>Transition</a:t>
            </a:r>
          </a:p>
          <a:p>
            <a:pPr marL="914400" lvl="1" indent="-457200" algn="just">
              <a:buFont typeface="+mj-lt"/>
              <a:buAutoNum type="arabicPeriod"/>
            </a:pPr>
            <a:r>
              <a:rPr lang="en-US" sz="2200" cap="none" dirty="0"/>
              <a:t>Events</a:t>
            </a:r>
          </a:p>
          <a:p>
            <a:pPr marL="914400" lvl="1" indent="-457200" algn="just">
              <a:buFont typeface="+mj-lt"/>
              <a:buAutoNum type="arabicPeriod"/>
            </a:pPr>
            <a:r>
              <a:rPr lang="en-US" sz="2200" cap="none" dirty="0"/>
              <a:t>Actions</a:t>
            </a:r>
          </a:p>
          <a:p>
            <a:pPr algn="just"/>
            <a:r>
              <a:rPr lang="en-US" sz="2200" cap="none" dirty="0"/>
              <a:t>State transition testing helps understand the system’s behavior and covers all the conditions. Let’s try to understand this with an example.</a:t>
            </a:r>
          </a:p>
        </p:txBody>
      </p:sp>
    </p:spTree>
    <p:extLst>
      <p:ext uri="{BB962C8B-B14F-4D97-AF65-F5344CB8AC3E}">
        <p14:creationId xmlns:p14="http://schemas.microsoft.com/office/powerpoint/2010/main" val="351001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Techniques</a:t>
            </a:r>
          </a:p>
        </p:txBody>
      </p:sp>
      <p:sp>
        <p:nvSpPr>
          <p:cNvPr id="3" name="Content Placeholder 2">
            <a:extLst>
              <a:ext uri="{FF2B5EF4-FFF2-40B4-BE49-F238E27FC236}">
                <a16:creationId xmlns:a16="http://schemas.microsoft.com/office/drawing/2014/main" id="{DF1CB03D-E095-CC27-27B9-18183598647C}"/>
              </a:ext>
            </a:extLst>
          </p:cNvPr>
          <p:cNvSpPr>
            <a:spLocks noGrp="1"/>
          </p:cNvSpPr>
          <p:nvPr>
            <p:ph sz="quarter" idx="13"/>
          </p:nvPr>
        </p:nvSpPr>
        <p:spPr>
          <a:xfrm>
            <a:off x="913774" y="1404730"/>
            <a:ext cx="10363826" cy="5453270"/>
          </a:xfrm>
        </p:spPr>
        <p:txBody>
          <a:bodyPr>
            <a:normAutofit/>
          </a:bodyPr>
          <a:lstStyle/>
          <a:p>
            <a:pPr algn="just"/>
            <a:r>
              <a:rPr lang="en-US" sz="2200" b="1" cap="none" dirty="0"/>
              <a:t>2. State Transitioning</a:t>
            </a:r>
          </a:p>
          <a:p>
            <a:pPr algn="just"/>
            <a:r>
              <a:rPr lang="en-US" sz="2200" b="1" cap="none" dirty="0"/>
              <a:t>Example:</a:t>
            </a:r>
          </a:p>
          <a:p>
            <a:pPr algn="just"/>
            <a:r>
              <a:rPr lang="en-US" sz="2200" cap="none" dirty="0"/>
              <a:t>Consider a bank application that allows users to log in with valid credentials. </a:t>
            </a:r>
          </a:p>
          <a:p>
            <a:pPr algn="just"/>
            <a:r>
              <a:rPr lang="en-US" sz="2200" cap="none" dirty="0"/>
              <a:t>But, if the user doesn’t remember the credentials, the application allows them to retry with up to three attempts. </a:t>
            </a:r>
          </a:p>
          <a:p>
            <a:pPr algn="just"/>
            <a:r>
              <a:rPr lang="en-US" sz="2200" cap="none" dirty="0"/>
              <a:t>If they provide valid credentials within those three attempts, it will lead to a successful login. </a:t>
            </a:r>
          </a:p>
          <a:p>
            <a:pPr algn="just"/>
            <a:r>
              <a:rPr lang="en-US" sz="2200" cap="none" dirty="0"/>
              <a:t>In case of three unsuccessful attempts, the application will have to block the account.</a:t>
            </a:r>
          </a:p>
        </p:txBody>
      </p:sp>
    </p:spTree>
    <p:extLst>
      <p:ext uri="{BB962C8B-B14F-4D97-AF65-F5344CB8AC3E}">
        <p14:creationId xmlns:p14="http://schemas.microsoft.com/office/powerpoint/2010/main" val="787083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Techniques</a:t>
            </a:r>
          </a:p>
        </p:txBody>
      </p:sp>
      <p:sp>
        <p:nvSpPr>
          <p:cNvPr id="3" name="Content Placeholder 2">
            <a:extLst>
              <a:ext uri="{FF2B5EF4-FFF2-40B4-BE49-F238E27FC236}">
                <a16:creationId xmlns:a16="http://schemas.microsoft.com/office/drawing/2014/main" id="{DF1CB03D-E095-CC27-27B9-18183598647C}"/>
              </a:ext>
            </a:extLst>
          </p:cNvPr>
          <p:cNvSpPr>
            <a:spLocks noGrp="1"/>
          </p:cNvSpPr>
          <p:nvPr>
            <p:ph sz="quarter" idx="13"/>
          </p:nvPr>
        </p:nvSpPr>
        <p:spPr>
          <a:xfrm>
            <a:off x="913774" y="1404730"/>
            <a:ext cx="10363826" cy="5453270"/>
          </a:xfrm>
        </p:spPr>
        <p:txBody>
          <a:bodyPr>
            <a:normAutofit/>
          </a:bodyPr>
          <a:lstStyle/>
          <a:p>
            <a:pPr algn="just"/>
            <a:r>
              <a:rPr lang="en-US" sz="2200" b="1" cap="none" dirty="0"/>
              <a:t>2. State Transitioning</a:t>
            </a:r>
          </a:p>
          <a:p>
            <a:pPr algn="just"/>
            <a:r>
              <a:rPr lang="en-US" sz="2200" cap="none" dirty="0"/>
              <a:t>The below image will explain this scenario in a clear way.</a:t>
            </a:r>
          </a:p>
          <a:p>
            <a:pPr algn="just"/>
            <a:endParaRPr lang="en-US" sz="2200" cap="none" dirty="0"/>
          </a:p>
        </p:txBody>
      </p:sp>
      <p:pic>
        <p:nvPicPr>
          <p:cNvPr id="4" name="Picture 4" descr="State Transitioning Example&#10;&#10;">
            <a:extLst>
              <a:ext uri="{FF2B5EF4-FFF2-40B4-BE49-F238E27FC236}">
                <a16:creationId xmlns:a16="http://schemas.microsoft.com/office/drawing/2014/main" id="{E0D33699-13AC-90D0-E15A-C3C187993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739" y="2401958"/>
            <a:ext cx="8904198" cy="4674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476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Techniques</a:t>
            </a:r>
          </a:p>
        </p:txBody>
      </p:sp>
      <p:sp>
        <p:nvSpPr>
          <p:cNvPr id="3" name="Content Placeholder 2">
            <a:extLst>
              <a:ext uri="{FF2B5EF4-FFF2-40B4-BE49-F238E27FC236}">
                <a16:creationId xmlns:a16="http://schemas.microsoft.com/office/drawing/2014/main" id="{DF1CB03D-E095-CC27-27B9-18183598647C}"/>
              </a:ext>
            </a:extLst>
          </p:cNvPr>
          <p:cNvSpPr>
            <a:spLocks noGrp="1"/>
          </p:cNvSpPr>
          <p:nvPr>
            <p:ph sz="quarter" idx="13"/>
          </p:nvPr>
        </p:nvSpPr>
        <p:spPr>
          <a:xfrm>
            <a:off x="913774" y="1404730"/>
            <a:ext cx="10363826" cy="5453270"/>
          </a:xfrm>
        </p:spPr>
        <p:txBody>
          <a:bodyPr>
            <a:normAutofit/>
          </a:bodyPr>
          <a:lstStyle/>
          <a:p>
            <a:pPr algn="just"/>
            <a:r>
              <a:rPr lang="en-US" sz="2200" b="1" cap="none" dirty="0"/>
              <a:t>3. Exploratory Testing</a:t>
            </a:r>
          </a:p>
          <a:p>
            <a:pPr algn="just"/>
            <a:r>
              <a:rPr lang="en-US" sz="2200" cap="none" dirty="0"/>
              <a:t>Exploratory testing is primarily used in Agile methods and involves outside-the-box thinking.</a:t>
            </a:r>
          </a:p>
          <a:p>
            <a:pPr algn="just"/>
            <a:r>
              <a:rPr lang="en-US" sz="2200" cap="none" dirty="0"/>
              <a:t>This process does not follow pre-defined test cases but instead involves testers using their knowledge, skills, and creativity to identify issues that may not have been expected by developers.</a:t>
            </a:r>
          </a:p>
          <a:p>
            <a:pPr algn="just"/>
            <a:r>
              <a:rPr lang="en-US" sz="2200" cap="none" dirty="0"/>
              <a:t>During exploratory testing, the tester will explore the software application in an unstructured way, creating and executing tests on the fly. </a:t>
            </a:r>
          </a:p>
          <a:p>
            <a:pPr algn="just"/>
            <a:r>
              <a:rPr lang="en-US" sz="2200" cap="none" dirty="0"/>
              <a:t>The goal of this testing is to uncover bugs that may have been missed by other traditional testing methods.</a:t>
            </a:r>
          </a:p>
          <a:p>
            <a:pPr algn="just"/>
            <a:endParaRPr lang="en-US" sz="2200" cap="none" dirty="0"/>
          </a:p>
        </p:txBody>
      </p:sp>
    </p:spTree>
    <p:extLst>
      <p:ext uri="{BB962C8B-B14F-4D97-AF65-F5344CB8AC3E}">
        <p14:creationId xmlns:p14="http://schemas.microsoft.com/office/powerpoint/2010/main" val="1142897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Concepts</a:t>
            </a:r>
          </a:p>
        </p:txBody>
      </p:sp>
      <p:sp>
        <p:nvSpPr>
          <p:cNvPr id="3" name="Content Placeholder 2">
            <a:extLst>
              <a:ext uri="{FF2B5EF4-FFF2-40B4-BE49-F238E27FC236}">
                <a16:creationId xmlns:a16="http://schemas.microsoft.com/office/drawing/2014/main" id="{EFED2806-E5C6-F43C-3C82-D18B02932DDD}"/>
              </a:ext>
            </a:extLst>
          </p:cNvPr>
          <p:cNvSpPr>
            <a:spLocks noGrp="1"/>
          </p:cNvSpPr>
          <p:nvPr>
            <p:ph sz="quarter" idx="13"/>
          </p:nvPr>
        </p:nvSpPr>
        <p:spPr>
          <a:xfrm>
            <a:off x="913774" y="1431235"/>
            <a:ext cx="10363826" cy="5001761"/>
          </a:xfrm>
        </p:spPr>
        <p:txBody>
          <a:bodyPr>
            <a:normAutofit/>
          </a:bodyPr>
          <a:lstStyle/>
          <a:p>
            <a:r>
              <a:rPr lang="en-US" sz="2200" cap="none" dirty="0"/>
              <a:t>As a software tester, there are several test design concepts that you must be familiar with to create effective test cases. </a:t>
            </a:r>
          </a:p>
          <a:p>
            <a:r>
              <a:rPr lang="en-US" sz="2200" cap="none" dirty="0"/>
              <a:t>Here are some of the most important test design concepts,</a:t>
            </a:r>
          </a:p>
          <a:p>
            <a:r>
              <a:rPr lang="en-US" sz="2200" b="1" cap="none" dirty="0"/>
              <a:t>Test Automation Pyramid</a:t>
            </a:r>
          </a:p>
          <a:p>
            <a:r>
              <a:rPr lang="en-US" sz="2200" cap="none" dirty="0"/>
              <a:t>Test Automation Pyramid is a testing framework that helps developers and testers to build high-quality products. It emphasizes the importance of automation at each level. The pyramid consists of three levels, each representing a different type of testing as follows,</a:t>
            </a:r>
          </a:p>
          <a:p>
            <a:pPr lvl="1"/>
            <a:r>
              <a:rPr lang="en-US" sz="2000" cap="none" dirty="0"/>
              <a:t>Unit Tests</a:t>
            </a:r>
          </a:p>
          <a:p>
            <a:pPr lvl="1"/>
            <a:r>
              <a:rPr lang="en-US" sz="2000" cap="none" dirty="0"/>
              <a:t>Integration Tests</a:t>
            </a:r>
          </a:p>
          <a:p>
            <a:pPr lvl="1"/>
            <a:r>
              <a:rPr lang="en-US" sz="2000" cap="none" dirty="0"/>
              <a:t>End-to-End Tests</a:t>
            </a:r>
          </a:p>
        </p:txBody>
      </p:sp>
    </p:spTree>
    <p:extLst>
      <p:ext uri="{BB962C8B-B14F-4D97-AF65-F5344CB8AC3E}">
        <p14:creationId xmlns:p14="http://schemas.microsoft.com/office/powerpoint/2010/main" val="3949327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Concepts</a:t>
            </a:r>
          </a:p>
        </p:txBody>
      </p:sp>
      <p:sp>
        <p:nvSpPr>
          <p:cNvPr id="3" name="Content Placeholder 2">
            <a:extLst>
              <a:ext uri="{FF2B5EF4-FFF2-40B4-BE49-F238E27FC236}">
                <a16:creationId xmlns:a16="http://schemas.microsoft.com/office/drawing/2014/main" id="{EFED2806-E5C6-F43C-3C82-D18B02932DDD}"/>
              </a:ext>
            </a:extLst>
          </p:cNvPr>
          <p:cNvSpPr>
            <a:spLocks noGrp="1"/>
          </p:cNvSpPr>
          <p:nvPr>
            <p:ph sz="quarter" idx="13"/>
          </p:nvPr>
        </p:nvSpPr>
        <p:spPr>
          <a:xfrm>
            <a:off x="781253" y="1431236"/>
            <a:ext cx="10363826" cy="5426764"/>
          </a:xfrm>
        </p:spPr>
        <p:txBody>
          <a:bodyPr>
            <a:normAutofit/>
          </a:bodyPr>
          <a:lstStyle/>
          <a:p>
            <a:r>
              <a:rPr lang="en-US" sz="2200" b="1" cap="none" dirty="0"/>
              <a:t>Test Automation Pyramid</a:t>
            </a:r>
          </a:p>
          <a:p>
            <a:endParaRPr lang="en-US" sz="2200" b="1" cap="none" dirty="0"/>
          </a:p>
          <a:p>
            <a:endParaRPr lang="en-US" sz="2200" b="1" cap="none" dirty="0"/>
          </a:p>
        </p:txBody>
      </p:sp>
      <p:pic>
        <p:nvPicPr>
          <p:cNvPr id="4" name="Picture 2" descr="Test Automation Pyramid">
            <a:extLst>
              <a:ext uri="{FF2B5EF4-FFF2-40B4-BE49-F238E27FC236}">
                <a16:creationId xmlns:a16="http://schemas.microsoft.com/office/drawing/2014/main" id="{28F39A49-A5CD-DE18-5669-7ED1E2C878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6051" y="1950088"/>
            <a:ext cx="5685183" cy="4907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673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3"/>
            <a:ext cx="10363825" cy="1140562"/>
          </a:xfrm>
        </p:spPr>
        <p:txBody>
          <a:bodyPr>
            <a:noAutofit/>
          </a:bodyPr>
          <a:lstStyle/>
          <a:p>
            <a:pPr algn="l"/>
            <a:r>
              <a:rPr lang="en-US" cap="none" dirty="0"/>
              <a:t>Test Design Concepts</a:t>
            </a:r>
          </a:p>
        </p:txBody>
      </p:sp>
      <p:sp>
        <p:nvSpPr>
          <p:cNvPr id="3" name="Content Placeholder 2">
            <a:extLst>
              <a:ext uri="{FF2B5EF4-FFF2-40B4-BE49-F238E27FC236}">
                <a16:creationId xmlns:a16="http://schemas.microsoft.com/office/drawing/2014/main" id="{EFED2806-E5C6-F43C-3C82-D18B02932DDD}"/>
              </a:ext>
            </a:extLst>
          </p:cNvPr>
          <p:cNvSpPr>
            <a:spLocks noGrp="1"/>
          </p:cNvSpPr>
          <p:nvPr>
            <p:ph sz="quarter" idx="13"/>
          </p:nvPr>
        </p:nvSpPr>
        <p:spPr>
          <a:xfrm>
            <a:off x="913774" y="1431235"/>
            <a:ext cx="10363826" cy="5001761"/>
          </a:xfrm>
        </p:spPr>
        <p:txBody>
          <a:bodyPr>
            <a:normAutofit/>
          </a:bodyPr>
          <a:lstStyle/>
          <a:p>
            <a:r>
              <a:rPr lang="en-US" sz="2200" b="1" cap="none" dirty="0"/>
              <a:t>Unit testing: </a:t>
            </a:r>
            <a:r>
              <a:rPr lang="en-US" sz="2200" cap="none" dirty="0"/>
              <a:t>Here, testing is done on individual units or software modules. </a:t>
            </a:r>
          </a:p>
          <a:p>
            <a:r>
              <a:rPr lang="en-US" sz="2200" cap="none" dirty="0"/>
              <a:t>Each unit is tested separately to ensure that it behaves as intended and meets its requirements.</a:t>
            </a:r>
          </a:p>
          <a:p>
            <a:r>
              <a:rPr lang="en-US" sz="2200" b="1" cap="none" dirty="0"/>
              <a:t>Integration testing: </a:t>
            </a:r>
            <a:r>
              <a:rPr lang="en-US" sz="2200" cap="none" dirty="0"/>
              <a:t>It helps verify that different modules of a software application are working as intended when they are integrated together.</a:t>
            </a:r>
          </a:p>
          <a:p>
            <a:r>
              <a:rPr lang="en-US" sz="2200" b="1" cap="none" dirty="0"/>
              <a:t>End-to-End testing: </a:t>
            </a:r>
            <a:r>
              <a:rPr lang="en-US" sz="2200" cap="none" dirty="0"/>
              <a:t>It involves evaluating the entire software application, from start to finish, to ensure that all components work together as expected and meet the requirements and business objectives. </a:t>
            </a:r>
          </a:p>
          <a:p>
            <a:r>
              <a:rPr lang="en-US" sz="2200" cap="none" dirty="0"/>
              <a:t>Also, it enables quick feedback cycles and helps developers fix bugs in a short time. </a:t>
            </a:r>
          </a:p>
          <a:p>
            <a:r>
              <a:rPr lang="en-US" sz="2200" cap="none" dirty="0"/>
              <a:t>It helps save time, reduce costs, and improve the overall quality of an application.</a:t>
            </a:r>
          </a:p>
        </p:txBody>
      </p:sp>
    </p:spTree>
    <p:extLst>
      <p:ext uri="{BB962C8B-B14F-4D97-AF65-F5344CB8AC3E}">
        <p14:creationId xmlns:p14="http://schemas.microsoft.com/office/powerpoint/2010/main" val="3990974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25002"/>
            <a:ext cx="10363825" cy="1140563"/>
          </a:xfrm>
        </p:spPr>
        <p:txBody>
          <a:bodyPr>
            <a:noAutofit/>
          </a:bodyPr>
          <a:lstStyle/>
          <a:p>
            <a:pPr algn="l"/>
            <a:r>
              <a:rPr lang="en-US" cap="none" dirty="0"/>
              <a:t>Test Design Concepts</a:t>
            </a:r>
          </a:p>
        </p:txBody>
      </p:sp>
      <p:sp>
        <p:nvSpPr>
          <p:cNvPr id="3" name="Content Placeholder 2">
            <a:extLst>
              <a:ext uri="{FF2B5EF4-FFF2-40B4-BE49-F238E27FC236}">
                <a16:creationId xmlns:a16="http://schemas.microsoft.com/office/drawing/2014/main" id="{5F4EB07C-AC46-D273-6C90-9A4791CF2342}"/>
              </a:ext>
            </a:extLst>
          </p:cNvPr>
          <p:cNvSpPr>
            <a:spLocks noGrp="1"/>
          </p:cNvSpPr>
          <p:nvPr>
            <p:ph sz="quarter" idx="13"/>
          </p:nvPr>
        </p:nvSpPr>
        <p:spPr>
          <a:xfrm>
            <a:off x="913774" y="1378226"/>
            <a:ext cx="10363826" cy="5054772"/>
          </a:xfrm>
        </p:spPr>
        <p:txBody>
          <a:bodyPr>
            <a:normAutofit/>
          </a:bodyPr>
          <a:lstStyle/>
          <a:p>
            <a:pPr algn="just"/>
            <a:r>
              <a:rPr lang="en-US" sz="2200" cap="none" dirty="0"/>
              <a:t>In system testing, the entire software or application is tested at a time. </a:t>
            </a:r>
          </a:p>
          <a:p>
            <a:pPr algn="just"/>
            <a:r>
              <a:rPr lang="en-US" sz="2200" cap="none" dirty="0"/>
              <a:t>In end-to-end testing, the behavioral flow of the application is tested. </a:t>
            </a:r>
          </a:p>
          <a:p>
            <a:pPr algn="just"/>
            <a:r>
              <a:rPr lang="en-US" sz="2200" cap="none" dirty="0"/>
              <a:t>Validates specific software systems.</a:t>
            </a:r>
          </a:p>
        </p:txBody>
      </p:sp>
    </p:spTree>
    <p:extLst>
      <p:ext uri="{BB962C8B-B14F-4D97-AF65-F5344CB8AC3E}">
        <p14:creationId xmlns:p14="http://schemas.microsoft.com/office/powerpoint/2010/main" val="2232060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2263-859C-5C9B-DDE6-8D3FCAC7330D}"/>
              </a:ext>
            </a:extLst>
          </p:cNvPr>
          <p:cNvSpPr>
            <a:spLocks noGrp="1"/>
          </p:cNvSpPr>
          <p:nvPr>
            <p:ph type="title"/>
          </p:nvPr>
        </p:nvSpPr>
        <p:spPr>
          <a:xfrm>
            <a:off x="913775" y="618518"/>
            <a:ext cx="10364451" cy="780792"/>
          </a:xfrm>
        </p:spPr>
        <p:txBody>
          <a:bodyPr/>
          <a:lstStyle/>
          <a:p>
            <a:pPr algn="l"/>
            <a:r>
              <a:rPr lang="en-US" cap="none" dirty="0"/>
              <a:t>Lecture 11 Summary</a:t>
            </a:r>
          </a:p>
        </p:txBody>
      </p:sp>
      <p:sp>
        <p:nvSpPr>
          <p:cNvPr id="3" name="Content Placeholder 2">
            <a:extLst>
              <a:ext uri="{FF2B5EF4-FFF2-40B4-BE49-F238E27FC236}">
                <a16:creationId xmlns:a16="http://schemas.microsoft.com/office/drawing/2014/main" id="{A5A94192-AF7D-8C3A-DBD1-09F7F2DD721F}"/>
              </a:ext>
            </a:extLst>
          </p:cNvPr>
          <p:cNvSpPr>
            <a:spLocks noGrp="1"/>
          </p:cNvSpPr>
          <p:nvPr>
            <p:ph sz="quarter" idx="13"/>
          </p:nvPr>
        </p:nvSpPr>
        <p:spPr>
          <a:xfrm>
            <a:off x="913774" y="1246910"/>
            <a:ext cx="10363826" cy="5417126"/>
          </a:xfrm>
        </p:spPr>
        <p:txBody>
          <a:bodyPr>
            <a:normAutofit/>
          </a:bodyPr>
          <a:lstStyle/>
          <a:p>
            <a:pPr algn="just"/>
            <a:r>
              <a:rPr lang="en-US" sz="2800" cap="none" dirty="0"/>
              <a:t>Test Design</a:t>
            </a:r>
          </a:p>
          <a:p>
            <a:pPr algn="just"/>
            <a:r>
              <a:rPr lang="en-US" sz="2800" cap="none" dirty="0"/>
              <a:t>Purpose of Test Design</a:t>
            </a:r>
          </a:p>
          <a:p>
            <a:pPr algn="just"/>
            <a:r>
              <a:rPr lang="en-US" sz="2800" cap="none" dirty="0"/>
              <a:t>When to Create a Test Design</a:t>
            </a:r>
          </a:p>
          <a:p>
            <a:pPr algn="just"/>
            <a:r>
              <a:rPr lang="en-US" sz="2800" cap="none" dirty="0"/>
              <a:t>Why is Test Design Important for Test Automation?</a:t>
            </a:r>
          </a:p>
          <a:p>
            <a:pPr algn="just"/>
            <a:r>
              <a:rPr lang="en-US" sz="2800" cap="none" dirty="0"/>
              <a:t>How Is Test Design Done?</a:t>
            </a:r>
          </a:p>
          <a:p>
            <a:pPr algn="just"/>
            <a:r>
              <a:rPr lang="en-US" sz="2800" cap="none" dirty="0"/>
              <a:t>Test Design Techniques</a:t>
            </a:r>
          </a:p>
          <a:p>
            <a:pPr algn="just"/>
            <a:r>
              <a:rPr lang="en-US" sz="2800" cap="none" dirty="0"/>
              <a:t>Test </a:t>
            </a:r>
            <a:r>
              <a:rPr lang="en-US" sz="2800" cap="none"/>
              <a:t>Design Concepts</a:t>
            </a:r>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a:p>
            <a:pPr algn="just"/>
            <a:endParaRPr lang="en-US" sz="2800" cap="none" dirty="0"/>
          </a:p>
        </p:txBody>
      </p:sp>
    </p:spTree>
    <p:extLst>
      <p:ext uri="{BB962C8B-B14F-4D97-AF65-F5344CB8AC3E}">
        <p14:creationId xmlns:p14="http://schemas.microsoft.com/office/powerpoint/2010/main" val="154640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1457A9-5284-AC2F-7E6C-D15EAD88C5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3444" y="1142881"/>
            <a:ext cx="6048623" cy="4197745"/>
          </a:xfrm>
          <a:prstGeom prst="rect">
            <a:avLst/>
          </a:prstGeom>
        </p:spPr>
      </p:pic>
      <p:sp>
        <p:nvSpPr>
          <p:cNvPr id="7" name="Slide Number Placeholder 6">
            <a:extLst>
              <a:ext uri="{FF2B5EF4-FFF2-40B4-BE49-F238E27FC236}">
                <a16:creationId xmlns:a16="http://schemas.microsoft.com/office/drawing/2014/main" id="{89174DFC-1DFC-38EF-8353-1A391622A1A4}"/>
              </a:ext>
            </a:extLst>
          </p:cNvPr>
          <p:cNvSpPr>
            <a:spLocks noGrp="1"/>
          </p:cNvSpPr>
          <p:nvPr>
            <p:ph type="sldNum" sz="quarter" idx="12"/>
          </p:nvPr>
        </p:nvSpPr>
        <p:spPr/>
        <p:txBody>
          <a:bodyPr/>
          <a:lstStyle/>
          <a:p>
            <a:fld id="{0214DE60-BA66-4C13-947A-1E138A7FD5AC}" type="slidenum">
              <a:rPr lang="en-US" smtClean="0"/>
              <a:t>22</a:t>
            </a:fld>
            <a:endParaRPr lang="en-US"/>
          </a:p>
        </p:txBody>
      </p:sp>
    </p:spTree>
    <p:extLst>
      <p:ext uri="{BB962C8B-B14F-4D97-AF65-F5344CB8AC3E}">
        <p14:creationId xmlns:p14="http://schemas.microsoft.com/office/powerpoint/2010/main" val="67764506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43463</TotalTime>
  <Words>1276</Words>
  <Application>Microsoft Office PowerPoint</Application>
  <PresentationFormat>Widescreen</PresentationFormat>
  <Paragraphs>135</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Tw Cen MT</vt:lpstr>
      <vt:lpstr>Droplet</vt:lpstr>
      <vt:lpstr>PowerPoint Presentation</vt:lpstr>
      <vt:lpstr>Word of Wisdom</vt:lpstr>
      <vt:lpstr> sOftware Quality Assurance</vt:lpstr>
      <vt:lpstr>Software Quality Assurance</vt:lpstr>
      <vt:lpstr>Lecture 10 Revision</vt:lpstr>
      <vt:lpstr>Test Design</vt:lpstr>
      <vt:lpstr>Purpose of Test Design</vt:lpstr>
      <vt:lpstr>When to Create a Test Design</vt:lpstr>
      <vt:lpstr>Why is Test Design Important for Test Automation?</vt:lpstr>
      <vt:lpstr>How Is Test Design Done?</vt:lpstr>
      <vt:lpstr>Test Design Techniques</vt:lpstr>
      <vt:lpstr>Test Design Techniques</vt:lpstr>
      <vt:lpstr>Test Design Techniques</vt:lpstr>
      <vt:lpstr>Test Design Techniques</vt:lpstr>
      <vt:lpstr>Test Design Techniques</vt:lpstr>
      <vt:lpstr>Test Design Techniques</vt:lpstr>
      <vt:lpstr>Test Design Concepts</vt:lpstr>
      <vt:lpstr>Test Design Concepts</vt:lpstr>
      <vt:lpstr>Test Design Concepts</vt:lpstr>
      <vt:lpstr>Test Design Concepts</vt:lpstr>
      <vt:lpstr>Lecture 11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Saira Hameed</cp:lastModifiedBy>
  <cp:revision>528</cp:revision>
  <dcterms:created xsi:type="dcterms:W3CDTF">2022-09-28T04:24:04Z</dcterms:created>
  <dcterms:modified xsi:type="dcterms:W3CDTF">2023-12-05T04:14:03Z</dcterms:modified>
</cp:coreProperties>
</file>