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sldIdLst>
    <p:sldId id="256" r:id="rId2"/>
    <p:sldId id="258" r:id="rId3"/>
    <p:sldId id="259" r:id="rId4"/>
    <p:sldId id="260" r:id="rId5"/>
    <p:sldId id="262" r:id="rId6"/>
    <p:sldId id="263" r:id="rId7"/>
    <p:sldId id="264" r:id="rId8"/>
    <p:sldId id="265" r:id="rId9"/>
    <p:sldId id="266" r:id="rId10"/>
    <p:sldId id="268" r:id="rId11"/>
    <p:sldId id="270" r:id="rId12"/>
    <p:sldId id="271" r:id="rId13"/>
    <p:sldId id="272" r:id="rId14"/>
    <p:sldId id="273" r:id="rId15"/>
    <p:sldId id="274" r:id="rId16"/>
    <p:sldId id="275" r:id="rId17"/>
    <p:sldId id="276" r:id="rId18"/>
    <p:sldId id="277" r:id="rId19"/>
    <p:sldId id="278" r:id="rId20"/>
    <p:sldId id="279" r:id="rId21"/>
    <p:sldId id="280" r:id="rId22"/>
    <p:sldId id="281" r:id="rId23"/>
    <p:sldId id="282" r:id="rId24"/>
    <p:sldId id="283" r:id="rId25"/>
    <p:sldId id="285" r:id="rId26"/>
    <p:sldId id="286" r:id="rId27"/>
    <p:sldId id="287" r:id="rId28"/>
    <p:sldId id="288" r:id="rId29"/>
    <p:sldId id="289" r:id="rId30"/>
    <p:sldId id="290" r:id="rId31"/>
    <p:sldId id="291" r:id="rId32"/>
    <p:sldId id="292" r:id="rId33"/>
    <p:sldId id="293" r:id="rId34"/>
    <p:sldId id="294" r:id="rId35"/>
    <p:sldId id="295" r:id="rId36"/>
    <p:sldId id="296" r:id="rId37"/>
    <p:sldId id="267" r:id="rId38"/>
  </p:sldIdLst>
  <p:sldSz cx="9144000" cy="6858000" type="screen4x3"/>
  <p:notesSz cx="6858000" cy="9144000"/>
  <p:defaultTextStyle>
    <a:defPPr>
      <a:defRPr lang="en-GB"/>
    </a:defPPr>
    <a:lvl1pPr algn="r" rtl="0" fontAlgn="base">
      <a:spcBef>
        <a:spcPct val="20000"/>
      </a:spcBef>
      <a:spcAft>
        <a:spcPct val="0"/>
      </a:spcAft>
      <a:buClr>
        <a:schemeClr val="accent1"/>
      </a:buClr>
      <a:buSzPct val="65000"/>
      <a:buFont typeface="Wingdings" panose="05000000000000000000" pitchFamily="2" charset="2"/>
      <a:defRPr sz="2400" kern="1200">
        <a:solidFill>
          <a:srgbClr val="800000"/>
        </a:solidFill>
        <a:latin typeface="Tahoma" panose="020B0604030504040204" pitchFamily="34" charset="0"/>
        <a:ea typeface="+mn-ea"/>
        <a:cs typeface="Arial" panose="020B0604020202020204" pitchFamily="34" charset="0"/>
      </a:defRPr>
    </a:lvl1pPr>
    <a:lvl2pPr marL="457200" algn="r" rtl="0" fontAlgn="base">
      <a:spcBef>
        <a:spcPct val="20000"/>
      </a:spcBef>
      <a:spcAft>
        <a:spcPct val="0"/>
      </a:spcAft>
      <a:buClr>
        <a:schemeClr val="accent1"/>
      </a:buClr>
      <a:buSzPct val="65000"/>
      <a:buFont typeface="Wingdings" panose="05000000000000000000" pitchFamily="2" charset="2"/>
      <a:defRPr sz="2400" kern="1200">
        <a:solidFill>
          <a:srgbClr val="800000"/>
        </a:solidFill>
        <a:latin typeface="Tahoma" panose="020B0604030504040204" pitchFamily="34" charset="0"/>
        <a:ea typeface="+mn-ea"/>
        <a:cs typeface="Arial" panose="020B0604020202020204" pitchFamily="34" charset="0"/>
      </a:defRPr>
    </a:lvl2pPr>
    <a:lvl3pPr marL="914400" algn="r" rtl="0" fontAlgn="base">
      <a:spcBef>
        <a:spcPct val="20000"/>
      </a:spcBef>
      <a:spcAft>
        <a:spcPct val="0"/>
      </a:spcAft>
      <a:buClr>
        <a:schemeClr val="accent1"/>
      </a:buClr>
      <a:buSzPct val="65000"/>
      <a:buFont typeface="Wingdings" panose="05000000000000000000" pitchFamily="2" charset="2"/>
      <a:defRPr sz="2400" kern="1200">
        <a:solidFill>
          <a:srgbClr val="800000"/>
        </a:solidFill>
        <a:latin typeface="Tahoma" panose="020B0604030504040204" pitchFamily="34" charset="0"/>
        <a:ea typeface="+mn-ea"/>
        <a:cs typeface="Arial" panose="020B0604020202020204" pitchFamily="34" charset="0"/>
      </a:defRPr>
    </a:lvl3pPr>
    <a:lvl4pPr marL="1371600" algn="r" rtl="0" fontAlgn="base">
      <a:spcBef>
        <a:spcPct val="20000"/>
      </a:spcBef>
      <a:spcAft>
        <a:spcPct val="0"/>
      </a:spcAft>
      <a:buClr>
        <a:schemeClr val="accent1"/>
      </a:buClr>
      <a:buSzPct val="65000"/>
      <a:buFont typeface="Wingdings" panose="05000000000000000000" pitchFamily="2" charset="2"/>
      <a:defRPr sz="2400" kern="1200">
        <a:solidFill>
          <a:srgbClr val="800000"/>
        </a:solidFill>
        <a:latin typeface="Tahoma" panose="020B0604030504040204" pitchFamily="34" charset="0"/>
        <a:ea typeface="+mn-ea"/>
        <a:cs typeface="Arial" panose="020B0604020202020204" pitchFamily="34" charset="0"/>
      </a:defRPr>
    </a:lvl4pPr>
    <a:lvl5pPr marL="1828800" algn="r" rtl="0" fontAlgn="base">
      <a:spcBef>
        <a:spcPct val="20000"/>
      </a:spcBef>
      <a:spcAft>
        <a:spcPct val="0"/>
      </a:spcAft>
      <a:buClr>
        <a:schemeClr val="accent1"/>
      </a:buClr>
      <a:buSzPct val="65000"/>
      <a:buFont typeface="Wingdings" panose="05000000000000000000" pitchFamily="2" charset="2"/>
      <a:defRPr sz="2400" kern="1200">
        <a:solidFill>
          <a:srgbClr val="800000"/>
        </a:solidFill>
        <a:latin typeface="Tahoma" panose="020B0604030504040204" pitchFamily="34" charset="0"/>
        <a:ea typeface="+mn-ea"/>
        <a:cs typeface="Arial" panose="020B0604020202020204" pitchFamily="34" charset="0"/>
      </a:defRPr>
    </a:lvl5pPr>
    <a:lvl6pPr marL="2286000" algn="l" defTabSz="914400" rtl="0" eaLnBrk="1" latinLnBrk="0" hangingPunct="1">
      <a:defRPr sz="2400" kern="1200">
        <a:solidFill>
          <a:srgbClr val="800000"/>
        </a:solidFill>
        <a:latin typeface="Tahoma" panose="020B0604030504040204" pitchFamily="34" charset="0"/>
        <a:ea typeface="+mn-ea"/>
        <a:cs typeface="Arial" panose="020B0604020202020204" pitchFamily="34" charset="0"/>
      </a:defRPr>
    </a:lvl6pPr>
    <a:lvl7pPr marL="2743200" algn="l" defTabSz="914400" rtl="0" eaLnBrk="1" latinLnBrk="0" hangingPunct="1">
      <a:defRPr sz="2400" kern="1200">
        <a:solidFill>
          <a:srgbClr val="800000"/>
        </a:solidFill>
        <a:latin typeface="Tahoma" panose="020B0604030504040204" pitchFamily="34" charset="0"/>
        <a:ea typeface="+mn-ea"/>
        <a:cs typeface="Arial" panose="020B0604020202020204" pitchFamily="34" charset="0"/>
      </a:defRPr>
    </a:lvl7pPr>
    <a:lvl8pPr marL="3200400" algn="l" defTabSz="914400" rtl="0" eaLnBrk="1" latinLnBrk="0" hangingPunct="1">
      <a:defRPr sz="2400" kern="1200">
        <a:solidFill>
          <a:srgbClr val="800000"/>
        </a:solidFill>
        <a:latin typeface="Tahoma" panose="020B0604030504040204" pitchFamily="34" charset="0"/>
        <a:ea typeface="+mn-ea"/>
        <a:cs typeface="Arial" panose="020B0604020202020204" pitchFamily="34" charset="0"/>
      </a:defRPr>
    </a:lvl8pPr>
    <a:lvl9pPr marL="3657600" algn="l" defTabSz="914400" rtl="0" eaLnBrk="1" latinLnBrk="0" hangingPunct="1">
      <a:defRPr sz="2400" kern="1200">
        <a:solidFill>
          <a:srgbClr val="800000"/>
        </a:solidFill>
        <a:latin typeface="Tahoma" panose="020B060403050404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2" d="100"/>
          <a:sy n="82" d="100"/>
        </p:scale>
        <p:origin x="1644" y="8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9" name="Rectangle 8"/>
          <p:cNvSpPr/>
          <p:nvPr/>
        </p:nvSpPr>
        <p:spPr>
          <a:xfrm>
            <a:off x="0" y="0"/>
            <a:ext cx="9144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9"/>
          <p:cNvSpPr/>
          <p:nvPr/>
        </p:nvSpPr>
        <p:spPr>
          <a:xfrm>
            <a:off x="4762" y="0"/>
            <a:ext cx="9139239" cy="4572001"/>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42900" y="4960137"/>
            <a:ext cx="5829300" cy="1463040"/>
          </a:xfrm>
        </p:spPr>
        <p:txBody>
          <a:bodyPr anchor="ctr">
            <a:normAutofit/>
          </a:bodyPr>
          <a:lstStyle>
            <a:lvl1pPr algn="r">
              <a:defRPr sz="4400" spc="200" baseline="0"/>
            </a:lvl1pPr>
          </a:lstStyle>
          <a:p>
            <a:r>
              <a:rPr lang="en-US"/>
              <a:t>Click to edit Master title style</a:t>
            </a:r>
            <a:endParaRPr lang="en-US" dirty="0"/>
          </a:p>
        </p:txBody>
      </p:sp>
      <p:sp>
        <p:nvSpPr>
          <p:cNvPr id="3" name="Subtitle 2"/>
          <p:cNvSpPr>
            <a:spLocks noGrp="1"/>
          </p:cNvSpPr>
          <p:nvPr>
            <p:ph type="subTitle" idx="1"/>
          </p:nvPr>
        </p:nvSpPr>
        <p:spPr>
          <a:xfrm>
            <a:off x="6457950" y="4960137"/>
            <a:ext cx="2400300" cy="1463040"/>
          </a:xfrm>
        </p:spPr>
        <p:txBody>
          <a:bodyPr lIns="91440" rIns="91440" anchor="ctr">
            <a:normAutofit/>
          </a:bodyPr>
          <a:lstStyle>
            <a:lvl1pPr marL="0" indent="0" algn="l">
              <a:lnSpc>
                <a:spcPct val="100000"/>
              </a:lnSpc>
              <a:spcBef>
                <a:spcPts val="0"/>
              </a:spcBef>
              <a:buNone/>
              <a:defRPr sz="160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96DFF08F-DC6B-4601-B491-B0F83F6DD2DA}" type="datetimeFigureOut">
              <a:rPr lang="en-US" dirty="0"/>
              <a:pPr/>
              <a:t>12/3/2024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05F2762-73A4-4DD0-87A8-0C1A227F7566}" type="slidenum">
              <a:rPr lang="en-GB" altLang="en-US" smtClean="0"/>
              <a:pPr/>
              <a:t>‹#›</a:t>
            </a:fld>
            <a:endParaRPr lang="en-GB" altLang="en-US"/>
          </a:p>
        </p:txBody>
      </p:sp>
      <p:cxnSp>
        <p:nvCxnSpPr>
          <p:cNvPr id="8" name="Straight Connector 7"/>
          <p:cNvCxnSpPr/>
          <p:nvPr/>
        </p:nvCxnSpPr>
        <p:spPr>
          <a:xfrm flipV="1">
            <a:off x="6290132"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3029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12/3/2024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5150496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9144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Freeform 10"/>
          <p:cNvSpPr/>
          <p:nvPr/>
        </p:nvSpPr>
        <p:spPr>
          <a:xfrm>
            <a:off x="4762" y="0"/>
            <a:ext cx="9139239" cy="4572001"/>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4960137"/>
            <a:ext cx="5829300" cy="1463040"/>
          </a:xfrm>
        </p:spPr>
        <p:txBody>
          <a:bodyPr anchor="ctr">
            <a:normAutofit/>
          </a:bodyPr>
          <a:lstStyle>
            <a:lvl1pPr algn="r">
              <a:defRPr sz="44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6457950" y="4960137"/>
            <a:ext cx="24003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6DFF08F-DC6B-4601-B491-B0F83F6DD2DA}" type="datetimeFigureOut">
              <a:rPr lang="en-US" dirty="0"/>
              <a:t>12/3/2024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6290132"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3993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7290054"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768096" y="2286000"/>
            <a:ext cx="35661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91990" y="2286000"/>
            <a:ext cx="35661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DFF08F-DC6B-4601-B491-B0F83F6DD2DA}" type="datetimeFigureOut">
              <a:rPr lang="en-US" dirty="0"/>
              <a:t>12/3/2024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1301959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768096" y="585216"/>
            <a:ext cx="7290054" cy="14996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768096" y="2179636"/>
            <a:ext cx="3566160" cy="822960"/>
          </a:xfrm>
        </p:spPr>
        <p:txBody>
          <a:bodyPr lIns="137160" rIns="137160" anchor="ctr">
            <a:normAutofit/>
          </a:bodyPr>
          <a:lstStyle>
            <a:lvl1pPr marL="0" indent="0">
              <a:spcBef>
                <a:spcPts val="0"/>
              </a:spcBef>
              <a:spcAft>
                <a:spcPts val="0"/>
              </a:spcAft>
              <a:buNone/>
              <a:defRPr sz="22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768096" y="2967788"/>
            <a:ext cx="3566160" cy="33415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91990" y="2179636"/>
            <a:ext cx="3566160" cy="822960"/>
          </a:xfrm>
        </p:spPr>
        <p:txBody>
          <a:bodyPr lIns="137160" rIns="137160" anchor="ctr">
            <a:normAutofit/>
          </a:bodyPr>
          <a:lstStyle>
            <a:lvl1pPr marL="0" indent="0">
              <a:spcBef>
                <a:spcPts val="0"/>
              </a:spcBef>
              <a:spcAft>
                <a:spcPts val="0"/>
              </a:spcAft>
              <a:buNone/>
              <a:defRPr lang="en-US" sz="22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Edit Master text styles</a:t>
            </a:r>
          </a:p>
        </p:txBody>
      </p:sp>
      <p:sp>
        <p:nvSpPr>
          <p:cNvPr id="6" name="Content Placeholder 5"/>
          <p:cNvSpPr>
            <a:spLocks noGrp="1"/>
          </p:cNvSpPr>
          <p:nvPr>
            <p:ph sz="quarter" idx="4"/>
          </p:nvPr>
        </p:nvSpPr>
        <p:spPr>
          <a:xfrm>
            <a:off x="4491990" y="2967788"/>
            <a:ext cx="3566160" cy="33415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DFF08F-DC6B-4601-B491-B0F83F6DD2DA}" type="datetimeFigureOut">
              <a:rPr lang="en-US" dirty="0"/>
              <a:t>12/3/2024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16876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6DFF08F-DC6B-4601-B491-B0F83F6DD2DA}" type="datetimeFigureOut">
              <a:rPr lang="en-US" dirty="0"/>
              <a:t>12/3/2024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380631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DFF08F-DC6B-4601-B491-B0F83F6DD2DA}" type="datetimeFigureOut">
              <a:rPr lang="en-US" dirty="0"/>
              <a:t>12/3/2024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12880613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768096" y="471509"/>
            <a:ext cx="3291840" cy="1737360"/>
          </a:xfrm>
        </p:spPr>
        <p:txBody>
          <a:bodyPr>
            <a:noAutofit/>
          </a:bodyPr>
          <a:lstStyle>
            <a:lvl1pPr>
              <a:lnSpc>
                <a:spcPct val="80000"/>
              </a:lnSpc>
              <a:defRPr sz="3600"/>
            </a:lvl1pPr>
          </a:lstStyle>
          <a:p>
            <a:r>
              <a:rPr lang="en-US"/>
              <a:t>Click to edit Master title style</a:t>
            </a:r>
            <a:endParaRPr lang="en-US" dirty="0"/>
          </a:p>
        </p:txBody>
      </p:sp>
      <p:sp>
        <p:nvSpPr>
          <p:cNvPr id="3" name="Content Placeholder 2"/>
          <p:cNvSpPr>
            <a:spLocks noGrp="1"/>
          </p:cNvSpPr>
          <p:nvPr>
            <p:ph idx="1"/>
          </p:nvPr>
        </p:nvSpPr>
        <p:spPr>
          <a:xfrm>
            <a:off x="4286250" y="822960"/>
            <a:ext cx="4258818" cy="5184648"/>
          </a:xfrm>
        </p:spPr>
        <p:txBody>
          <a:bodyPr>
            <a:normAutofit/>
          </a:bodyPr>
          <a:lstStyle>
            <a:lvl1pPr>
              <a:defRPr sz="2000"/>
            </a:lvl1pPr>
            <a:lvl2pPr>
              <a:defRPr sz="16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8096" y="2257506"/>
            <a:ext cx="329184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96DFF08F-DC6B-4601-B491-B0F83F6DD2DA}" type="datetimeFigureOut">
              <a:rPr lang="en-US" dirty="0"/>
              <a:t>12/3/2024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5372381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4960138"/>
            <a:ext cx="5829300" cy="1463040"/>
          </a:xfrm>
        </p:spPr>
        <p:txBody>
          <a:bodyPr anchor="ctr">
            <a:normAutofit/>
          </a:bodyPr>
          <a:lstStyle>
            <a:lvl1pPr algn="r">
              <a:defRPr sz="44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9141714" cy="4572000"/>
          </a:xfrm>
          <a:solidFill>
            <a:schemeClr val="accent1">
              <a:lumMod val="60000"/>
              <a:lumOff val="40000"/>
            </a:schemeClr>
          </a:solidFill>
        </p:spPr>
        <p:txBody>
          <a:bodyPr lIns="457200" tIns="365760"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457950" y="4960138"/>
            <a:ext cx="24003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9CDD058F-B960-4439-B370-43D89816EE05}" type="datetimeFigureOut">
              <a:rPr lang="en-US" dirty="0"/>
              <a:t>12/3/2024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B229B06-CF2A-459A-8CBC-F18C1D67D2BB}" type="slidenum">
              <a:rPr lang="en-US" dirty="0"/>
              <a:t>‹#›</a:t>
            </a:fld>
            <a:endParaRPr lang="en-US" dirty="0"/>
          </a:p>
        </p:txBody>
      </p:sp>
      <p:cxnSp>
        <p:nvCxnSpPr>
          <p:cNvPr id="8" name="Straight Connector 7"/>
          <p:cNvCxnSpPr/>
          <p:nvPr/>
        </p:nvCxnSpPr>
        <p:spPr>
          <a:xfrm flipV="1">
            <a:off x="6290132"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26271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12/3/2024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3960008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762000"/>
            <a:ext cx="1971675"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742951" y="762000"/>
            <a:ext cx="5686425" cy="54102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12/3/2024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7" name="Straight Connector 6"/>
          <p:cNvCxnSpPr/>
          <p:nvPr/>
        </p:nvCxnSpPr>
        <p:spPr>
          <a:xfrm rot="5400000" flipV="1">
            <a:off x="7543800" y="173563"/>
            <a:ext cx="0" cy="6858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56144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8096" y="585216"/>
            <a:ext cx="7290054"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768096" y="2286000"/>
            <a:ext cx="7290055" cy="4023360"/>
          </a:xfrm>
          <a:prstGeom prst="rect">
            <a:avLst/>
          </a:prstGeom>
        </p:spPr>
        <p:txBody>
          <a:bodyPr vert="horz" lIns="45720" tIns="45720" rIns="4572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8097" y="6470704"/>
            <a:ext cx="161560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96DFF08F-DC6B-4601-B491-B0F83F6DD2DA}" type="datetimeFigureOut">
              <a:rPr lang="en-US" dirty="0"/>
              <a:pPr/>
              <a:t>12/3/2024</a:t>
            </a:fld>
            <a:endParaRPr lang="en-US" dirty="0"/>
          </a:p>
        </p:txBody>
      </p:sp>
      <p:sp>
        <p:nvSpPr>
          <p:cNvPr id="5" name="Footer Placeholder 4"/>
          <p:cNvSpPr>
            <a:spLocks noGrp="1"/>
          </p:cNvSpPr>
          <p:nvPr>
            <p:ph type="ftr" sz="quarter" idx="3"/>
          </p:nvPr>
        </p:nvSpPr>
        <p:spPr>
          <a:xfrm>
            <a:off x="3632200" y="6470704"/>
            <a:ext cx="4426094"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8128000" y="6470704"/>
            <a:ext cx="730250"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FAB73BC-B049-4115-A692-8D63A059BFB8}" type="slidenum">
              <a:rPr lang="en-US" dirty="0"/>
              <a:pPr/>
              <a:t>‹#›</a:t>
            </a:fld>
            <a:endParaRPr lang="en-US" dirty="0"/>
          </a:p>
        </p:txBody>
      </p:sp>
      <p:cxnSp>
        <p:nvCxnSpPr>
          <p:cNvPr id="7" name="Straight Connector 6"/>
          <p:cNvCxnSpPr/>
          <p:nvPr/>
        </p:nvCxnSpPr>
        <p:spPr>
          <a:xfrm flipV="1">
            <a:off x="5715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5441324"/>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defTabSz="914400" rtl="0" eaLnBrk="1" latinLnBrk="0" hangingPunct="1">
        <a:lnSpc>
          <a:spcPct val="80000"/>
        </a:lnSpc>
        <a:spcBef>
          <a:spcPct val="0"/>
        </a:spcBef>
        <a:buNone/>
        <a:defRPr sz="44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0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6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11.gif"/><Relationship Id="rId3" Type="http://schemas.openxmlformats.org/officeDocument/2006/relationships/image" Target="../media/image6.gif"/><Relationship Id="rId7" Type="http://schemas.openxmlformats.org/officeDocument/2006/relationships/image" Target="../media/image10.gif"/><Relationship Id="rId2" Type="http://schemas.openxmlformats.org/officeDocument/2006/relationships/image" Target="../media/image5.gif"/><Relationship Id="rId1" Type="http://schemas.openxmlformats.org/officeDocument/2006/relationships/slideLayout" Target="../slideLayouts/slideLayout2.xml"/><Relationship Id="rId6" Type="http://schemas.openxmlformats.org/officeDocument/2006/relationships/image" Target="../media/image9.gif"/><Relationship Id="rId11" Type="http://schemas.openxmlformats.org/officeDocument/2006/relationships/image" Target="../media/image14.gif"/><Relationship Id="rId5" Type="http://schemas.openxmlformats.org/officeDocument/2006/relationships/image" Target="../media/image8.gif"/><Relationship Id="rId10" Type="http://schemas.openxmlformats.org/officeDocument/2006/relationships/image" Target="../media/image13.gif"/><Relationship Id="rId4" Type="http://schemas.openxmlformats.org/officeDocument/2006/relationships/image" Target="../media/image7.gif"/><Relationship Id="rId9" Type="http://schemas.openxmlformats.org/officeDocument/2006/relationships/image" Target="../media/image12.gif"/></Relationships>
</file>

<file path=ppt/slides/_rels/slide1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www.uie.com/articles/usability_challenges_of_web_apps" TargetMode="External"/><Relationship Id="rId2" Type="http://schemas.openxmlformats.org/officeDocument/2006/relationships/hyperlink" Target="http://speckyboy.com/2011/03/31/10-essential-web-application-usability-guideline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971600" y="4653136"/>
            <a:ext cx="5200600" cy="1463040"/>
          </a:xfrm>
        </p:spPr>
        <p:txBody>
          <a:bodyPr/>
          <a:lstStyle/>
          <a:p>
            <a:r>
              <a:rPr lang="en-GB" dirty="0"/>
              <a:t>Usability Issues in Web Applications</a:t>
            </a:r>
          </a:p>
        </p:txBody>
      </p:sp>
      <p:sp>
        <p:nvSpPr>
          <p:cNvPr id="2051" name="Rectangle 3"/>
          <p:cNvSpPr>
            <a:spLocks noGrp="1" noChangeArrowheads="1"/>
          </p:cNvSpPr>
          <p:nvPr>
            <p:ph type="subTitle" idx="1"/>
          </p:nvPr>
        </p:nvSpPr>
        <p:spPr>
          <a:xfrm>
            <a:off x="6516216" y="4653136"/>
            <a:ext cx="2400300" cy="1463040"/>
          </a:xfrm>
        </p:spPr>
        <p:txBody>
          <a:bodyPr/>
          <a:lstStyle/>
          <a:p>
            <a:r>
              <a:rPr lang="en-GB" dirty="0"/>
              <a:t> Usability Engineering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GB"/>
              <a:t>Usability</a:t>
            </a:r>
          </a:p>
        </p:txBody>
      </p:sp>
      <p:sp>
        <p:nvSpPr>
          <p:cNvPr id="8195" name="Rectangle 3"/>
          <p:cNvSpPr>
            <a:spLocks noGrp="1" noChangeArrowheads="1"/>
          </p:cNvSpPr>
          <p:nvPr>
            <p:ph idx="1"/>
          </p:nvPr>
        </p:nvSpPr>
        <p:spPr>
          <a:xfrm>
            <a:off x="759675" y="1772816"/>
            <a:ext cx="8060797" cy="4023360"/>
          </a:xfrm>
        </p:spPr>
        <p:txBody>
          <a:bodyPr>
            <a:normAutofit/>
          </a:bodyPr>
          <a:lstStyle/>
          <a:p>
            <a:pPr>
              <a:lnSpc>
                <a:spcPct val="90000"/>
              </a:lnSpc>
            </a:pPr>
            <a:r>
              <a:rPr lang="en-GB" sz="2400" dirty="0"/>
              <a:t>Usability can be defined as “</a:t>
            </a:r>
            <a:r>
              <a:rPr lang="en-GB" sz="2400" i="1" dirty="0">
                <a:solidFill>
                  <a:schemeClr val="hlink"/>
                </a:solidFill>
              </a:rPr>
              <a:t>the extent to which a product can be used by specified users within a specified usage context to achieve specified goals effectively, efficiently, and satisfactorily</a:t>
            </a:r>
            <a:r>
              <a:rPr lang="en-GB" sz="2400" dirty="0"/>
              <a:t>”.</a:t>
            </a:r>
          </a:p>
          <a:p>
            <a:pPr>
              <a:lnSpc>
                <a:spcPct val="90000"/>
              </a:lnSpc>
            </a:pPr>
            <a:r>
              <a:rPr lang="en-GB" sz="2400" dirty="0"/>
              <a:t>So one has to consider:</a:t>
            </a:r>
          </a:p>
          <a:p>
            <a:pPr lvl="1">
              <a:lnSpc>
                <a:spcPct val="90000"/>
              </a:lnSpc>
            </a:pPr>
            <a:r>
              <a:rPr lang="en-GB" sz="2400" dirty="0"/>
              <a:t>Who are the product’s </a:t>
            </a:r>
            <a:r>
              <a:rPr lang="en-GB" sz="2400" i="1" dirty="0"/>
              <a:t>users</a:t>
            </a:r>
            <a:r>
              <a:rPr lang="en-GB" sz="2400" dirty="0"/>
              <a:t>? </a:t>
            </a:r>
          </a:p>
          <a:p>
            <a:pPr lvl="1">
              <a:lnSpc>
                <a:spcPct val="90000"/>
              </a:lnSpc>
            </a:pPr>
            <a:r>
              <a:rPr lang="en-GB" sz="2400" dirty="0"/>
              <a:t>What are the product’s </a:t>
            </a:r>
            <a:r>
              <a:rPr lang="en-GB" sz="2400" i="1" dirty="0"/>
              <a:t>goals</a:t>
            </a:r>
            <a:r>
              <a:rPr lang="en-GB" sz="2400" dirty="0"/>
              <a:t>? </a:t>
            </a:r>
          </a:p>
          <a:p>
            <a:pPr lvl="1">
              <a:lnSpc>
                <a:spcPct val="90000"/>
              </a:lnSpc>
            </a:pPr>
            <a:r>
              <a:rPr lang="en-GB" sz="2400" dirty="0"/>
              <a:t>In what </a:t>
            </a:r>
            <a:r>
              <a:rPr lang="en-GB" sz="2400" i="1" dirty="0"/>
              <a:t>context </a:t>
            </a:r>
            <a:r>
              <a:rPr lang="en-GB" sz="2400" dirty="0"/>
              <a:t>is the product used? </a:t>
            </a:r>
          </a:p>
          <a:p>
            <a:pPr lvl="1">
              <a:lnSpc>
                <a:spcPct val="90000"/>
              </a:lnSpc>
            </a:pPr>
            <a:r>
              <a:rPr lang="en-GB" sz="2400" dirty="0"/>
              <a:t>Can the goals be achieved </a:t>
            </a:r>
            <a:r>
              <a:rPr lang="en-GB" sz="2400" i="1" dirty="0"/>
              <a:t>effectively </a:t>
            </a:r>
            <a:r>
              <a:rPr lang="en-GB" sz="2400" dirty="0"/>
              <a:t>(i.e., completely and exactly), </a:t>
            </a:r>
            <a:r>
              <a:rPr lang="en-GB" sz="2400" i="1" dirty="0"/>
              <a:t>efficiently </a:t>
            </a:r>
            <a:r>
              <a:rPr lang="en-GB" sz="2400" dirty="0"/>
              <a:t>(at a justifiable cost relative to the achievement), and </a:t>
            </a:r>
            <a:r>
              <a:rPr lang="en-GB" sz="2400" i="1" dirty="0"/>
              <a:t>satisfactorily</a:t>
            </a:r>
            <a:r>
              <a:rPr lang="en-GB" sz="2400" dirty="0"/>
              <a:t>?</a:t>
            </a:r>
          </a:p>
          <a:p>
            <a:pPr lvl="1">
              <a:lnSpc>
                <a:spcPct val="90000"/>
              </a:lnSpc>
            </a:pPr>
            <a:endParaRPr lang="en-GB" dirty="0"/>
          </a:p>
          <a:p>
            <a:pPr>
              <a:lnSpc>
                <a:spcPct val="90000"/>
              </a:lnSpc>
            </a:pPr>
            <a:endParaRPr lang="en-GB"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475656" y="404664"/>
            <a:ext cx="7290054" cy="827560"/>
          </a:xfrm>
        </p:spPr>
        <p:txBody>
          <a:bodyPr/>
          <a:lstStyle/>
          <a:p>
            <a:pPr algn="ctr"/>
            <a:r>
              <a:rPr lang="en-GB" dirty="0"/>
              <a:t>Layered Usability Model</a:t>
            </a:r>
          </a:p>
        </p:txBody>
      </p:sp>
      <p:pic>
        <p:nvPicPr>
          <p:cNvPr id="922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188" y="980728"/>
            <a:ext cx="8425308" cy="54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768096" y="585216"/>
            <a:ext cx="8124384" cy="1499616"/>
          </a:xfrm>
        </p:spPr>
        <p:txBody>
          <a:bodyPr/>
          <a:lstStyle/>
          <a:p>
            <a:pPr algn="ctr"/>
            <a:r>
              <a:rPr lang="en-GB" u="sng" dirty="0"/>
              <a:t>Usability of Web Applications - Issues</a:t>
            </a:r>
          </a:p>
        </p:txBody>
      </p:sp>
      <p:sp>
        <p:nvSpPr>
          <p:cNvPr id="10243" name="Rectangle 3"/>
          <p:cNvSpPr>
            <a:spLocks noGrp="1" noChangeArrowheads="1"/>
          </p:cNvSpPr>
          <p:nvPr>
            <p:ph idx="1"/>
          </p:nvPr>
        </p:nvSpPr>
        <p:spPr>
          <a:xfrm>
            <a:off x="768096" y="1844824"/>
            <a:ext cx="8124384" cy="4464536"/>
          </a:xfrm>
        </p:spPr>
        <p:txBody>
          <a:bodyPr>
            <a:normAutofit/>
          </a:bodyPr>
          <a:lstStyle/>
          <a:p>
            <a:r>
              <a:rPr lang="en-GB" sz="2600" i="1" dirty="0"/>
              <a:t>Perception</a:t>
            </a:r>
            <a:endParaRPr lang="en-GB" sz="2600" dirty="0"/>
          </a:p>
          <a:p>
            <a:pPr lvl="1"/>
            <a:r>
              <a:rPr lang="en-GB" sz="2200" dirty="0"/>
              <a:t>Layout of different elements should correspond to the mechanisms of human perception</a:t>
            </a:r>
          </a:p>
          <a:p>
            <a:r>
              <a:rPr lang="en-GB" sz="2600" i="1" dirty="0"/>
              <a:t>Memory</a:t>
            </a:r>
            <a:endParaRPr lang="en-GB" sz="2600" dirty="0"/>
          </a:p>
          <a:p>
            <a:pPr lvl="1"/>
            <a:r>
              <a:rPr lang="en-GB" sz="2200" dirty="0"/>
              <a:t>Capacity of human beings to remember is limited</a:t>
            </a:r>
          </a:p>
          <a:p>
            <a:pPr lvl="1"/>
            <a:r>
              <a:rPr lang="en-GB" sz="2200" dirty="0"/>
              <a:t>While surfing the Web, user needs to remember a lot of information</a:t>
            </a:r>
          </a:p>
          <a:p>
            <a:pPr lvl="1"/>
            <a:r>
              <a:rPr lang="en-GB" sz="2200" dirty="0"/>
              <a:t>With animations, banners and a lot of links it becomes difficult for the user to focus on the main task</a:t>
            </a:r>
          </a:p>
          <a:p>
            <a:r>
              <a:rPr lang="en-GB" sz="2600" i="1" dirty="0"/>
              <a:t>Attention</a:t>
            </a:r>
            <a:endParaRPr lang="en-GB" sz="2600" dirty="0"/>
          </a:p>
          <a:p>
            <a:pPr lvl="1"/>
            <a:r>
              <a:rPr lang="en-GB" sz="2200" dirty="0"/>
              <a:t>High level of animation/multimedia content is a source of distraction for the users</a:t>
            </a:r>
          </a:p>
          <a:p>
            <a:pPr lvl="1"/>
            <a:endParaRPr lang="en-GB" sz="2200" dirty="0"/>
          </a:p>
          <a:p>
            <a:pPr>
              <a:buFont typeface="Wingdings" panose="05000000000000000000" pitchFamily="2" charset="2"/>
              <a:buNone/>
            </a:pPr>
            <a:endParaRPr lang="en-GB" sz="2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n-GB" u="sng" dirty="0"/>
              <a:t>Design Guidelines</a:t>
            </a:r>
          </a:p>
        </p:txBody>
      </p:sp>
      <p:sp>
        <p:nvSpPr>
          <p:cNvPr id="12291" name="Rectangle 3"/>
          <p:cNvSpPr>
            <a:spLocks noGrp="1" noChangeArrowheads="1"/>
          </p:cNvSpPr>
          <p:nvPr>
            <p:ph idx="1"/>
          </p:nvPr>
        </p:nvSpPr>
        <p:spPr>
          <a:xfrm>
            <a:off x="768096" y="1772816"/>
            <a:ext cx="8196392" cy="4536544"/>
          </a:xfrm>
        </p:spPr>
        <p:txBody>
          <a:bodyPr>
            <a:normAutofit/>
          </a:bodyPr>
          <a:lstStyle/>
          <a:p>
            <a:r>
              <a:rPr lang="en-GB" sz="2400" b="1" dirty="0"/>
              <a:t>Response Times</a:t>
            </a:r>
            <a:endParaRPr lang="en-GB" sz="2400" dirty="0"/>
          </a:p>
          <a:p>
            <a:pPr lvl="1"/>
            <a:r>
              <a:rPr lang="en-GB" sz="2400" dirty="0"/>
              <a:t>To ensure the feel of interactivity and active flow control the system must respond efficiently</a:t>
            </a:r>
          </a:p>
          <a:p>
            <a:pPr lvl="1"/>
            <a:r>
              <a:rPr lang="en-GB" sz="2400" dirty="0"/>
              <a:t>a system response time of 0.1 second is felt as a direct response</a:t>
            </a:r>
          </a:p>
          <a:p>
            <a:pPr lvl="1"/>
            <a:r>
              <a:rPr lang="en-GB" sz="2400" dirty="0"/>
              <a:t>waiting times of up to 3 seconds are acceptable without affecting the thinking process</a:t>
            </a:r>
          </a:p>
          <a:p>
            <a:pPr lvl="1"/>
            <a:r>
              <a:rPr lang="en-GB" sz="2400" dirty="0"/>
              <a:t>longer waiting times are perceived consciously (and normally unpleasantly).</a:t>
            </a:r>
          </a:p>
          <a:p>
            <a:pPr lvl="2"/>
            <a:r>
              <a:rPr lang="en-GB" sz="2400" dirty="0"/>
              <a:t>Response time of up to 3 secs is considered normal for Web Apps</a:t>
            </a:r>
          </a:p>
          <a:p>
            <a:pPr lvl="1"/>
            <a:endParaRPr lang="en-GB"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768096" y="585216"/>
            <a:ext cx="7290054" cy="899568"/>
          </a:xfrm>
        </p:spPr>
        <p:txBody>
          <a:bodyPr/>
          <a:lstStyle/>
          <a:p>
            <a:r>
              <a:rPr lang="en-GB" u="sng" dirty="0"/>
              <a:t>Design Guidelines </a:t>
            </a:r>
            <a:r>
              <a:rPr lang="en-GB" dirty="0"/>
              <a:t>..</a:t>
            </a:r>
          </a:p>
        </p:txBody>
      </p:sp>
      <p:sp>
        <p:nvSpPr>
          <p:cNvPr id="13315" name="Rectangle 3"/>
          <p:cNvSpPr>
            <a:spLocks noGrp="1" noChangeArrowheads="1"/>
          </p:cNvSpPr>
          <p:nvPr>
            <p:ph idx="1"/>
          </p:nvPr>
        </p:nvSpPr>
        <p:spPr>
          <a:xfrm>
            <a:off x="761128" y="1484784"/>
            <a:ext cx="8196392" cy="4680520"/>
          </a:xfrm>
        </p:spPr>
        <p:txBody>
          <a:bodyPr>
            <a:noAutofit/>
          </a:bodyPr>
          <a:lstStyle/>
          <a:p>
            <a:r>
              <a:rPr lang="en-GB" sz="2400" b="1" dirty="0"/>
              <a:t>Response Times</a:t>
            </a:r>
          </a:p>
          <a:p>
            <a:pPr lvl="1"/>
            <a:r>
              <a:rPr lang="en-GB" sz="2400" dirty="0"/>
              <a:t>Design ‘slim’ pages to reduce response time</a:t>
            </a:r>
          </a:p>
          <a:p>
            <a:pPr lvl="1"/>
            <a:r>
              <a:rPr lang="en-GB" sz="2400" dirty="0"/>
              <a:t>Reduce the no of images or use low-size formats for multimedia content (use thumbnails, or ALT text for images)</a:t>
            </a:r>
          </a:p>
          <a:p>
            <a:r>
              <a:rPr lang="en-GB" sz="2400" b="1" dirty="0"/>
              <a:t>Interaction Efficiency</a:t>
            </a:r>
            <a:endParaRPr lang="en-GB" sz="2400" dirty="0"/>
          </a:p>
          <a:p>
            <a:pPr lvl="1"/>
            <a:r>
              <a:rPr lang="en-GB" sz="2400" dirty="0"/>
              <a:t>The time user spends on navigation and input (form filling </a:t>
            </a:r>
            <a:r>
              <a:rPr lang="en-GB" sz="2400" dirty="0" err="1"/>
              <a:t>etc</a:t>
            </a:r>
            <a:r>
              <a:rPr lang="en-GB" sz="2400" dirty="0"/>
              <a:t>) is also important</a:t>
            </a:r>
          </a:p>
          <a:p>
            <a:pPr lvl="1"/>
            <a:r>
              <a:rPr lang="en-GB" sz="2400" dirty="0"/>
              <a:t>Minimise the distances to clickable elements</a:t>
            </a:r>
          </a:p>
          <a:p>
            <a:pPr lvl="1"/>
            <a:r>
              <a:rPr lang="en-GB" sz="2400" dirty="0"/>
              <a:t>Size of these elements should be good enough so that users can accurately click these items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GB" u="sng" dirty="0"/>
              <a:t>Design Guidelines ..</a:t>
            </a:r>
          </a:p>
        </p:txBody>
      </p:sp>
      <p:sp>
        <p:nvSpPr>
          <p:cNvPr id="14339" name="Rectangle 3"/>
          <p:cNvSpPr>
            <a:spLocks noGrp="1" noChangeArrowheads="1"/>
          </p:cNvSpPr>
          <p:nvPr>
            <p:ph idx="1"/>
          </p:nvPr>
        </p:nvSpPr>
        <p:spPr>
          <a:xfrm>
            <a:off x="768096" y="1844824"/>
            <a:ext cx="8268400" cy="4464536"/>
          </a:xfrm>
        </p:spPr>
        <p:txBody>
          <a:bodyPr>
            <a:normAutofit/>
          </a:bodyPr>
          <a:lstStyle/>
          <a:p>
            <a:pPr>
              <a:lnSpc>
                <a:spcPct val="90000"/>
              </a:lnSpc>
            </a:pPr>
            <a:r>
              <a:rPr lang="en-GB" sz="2400" b="1" dirty="0"/>
              <a:t>Colours</a:t>
            </a:r>
          </a:p>
          <a:p>
            <a:pPr lvl="1">
              <a:lnSpc>
                <a:spcPct val="90000"/>
              </a:lnSpc>
            </a:pPr>
            <a:r>
              <a:rPr lang="en-GB" sz="2400" dirty="0"/>
              <a:t>Avoid excessive use of colours</a:t>
            </a:r>
          </a:p>
          <a:p>
            <a:pPr lvl="1">
              <a:lnSpc>
                <a:spcPct val="90000"/>
              </a:lnSpc>
            </a:pPr>
            <a:r>
              <a:rPr lang="en-GB" sz="2400" dirty="0"/>
              <a:t>roughly five colours are believed to represent the upper limit.</a:t>
            </a:r>
          </a:p>
          <a:p>
            <a:pPr lvl="1">
              <a:lnSpc>
                <a:spcPct val="90000"/>
              </a:lnSpc>
            </a:pPr>
            <a:r>
              <a:rPr lang="en-GB" sz="2400" dirty="0"/>
              <a:t>Extreme hues, such as flashy or highly saturated colours, should be avoided.</a:t>
            </a:r>
          </a:p>
          <a:p>
            <a:pPr>
              <a:lnSpc>
                <a:spcPct val="90000"/>
              </a:lnSpc>
            </a:pPr>
            <a:r>
              <a:rPr lang="en-GB" sz="2400" b="1" dirty="0"/>
              <a:t>Text Layout</a:t>
            </a:r>
          </a:p>
          <a:p>
            <a:pPr lvl="1">
              <a:lnSpc>
                <a:spcPct val="90000"/>
              </a:lnSpc>
            </a:pPr>
            <a:r>
              <a:rPr lang="en-GB" sz="2400" dirty="0"/>
              <a:t>Reading on screen is not efficient</a:t>
            </a:r>
          </a:p>
          <a:p>
            <a:pPr lvl="1">
              <a:lnSpc>
                <a:spcPct val="90000"/>
              </a:lnSpc>
            </a:pPr>
            <a:r>
              <a:rPr lang="en-GB" sz="2400" dirty="0"/>
              <a:t>Avoid fixed text layouts ( problems with resize of browser windows and font sizes)</a:t>
            </a:r>
          </a:p>
          <a:p>
            <a:pPr lvl="1">
              <a:lnSpc>
                <a:spcPct val="90000"/>
              </a:lnSpc>
            </a:pPr>
            <a:r>
              <a:rPr lang="en-GB" sz="2400" dirty="0"/>
              <a:t>Avoid structures or patterns in the Web page backgrounds</a:t>
            </a:r>
          </a:p>
          <a:p>
            <a:pPr lvl="1">
              <a:lnSpc>
                <a:spcPct val="90000"/>
              </a:lnSpc>
            </a:pPr>
            <a:endParaRPr lang="en-GB" dirty="0"/>
          </a:p>
          <a:p>
            <a:pPr lvl="1">
              <a:lnSpc>
                <a:spcPct val="90000"/>
              </a:lnSpc>
            </a:pPr>
            <a:endParaRPr lang="en-GB" dirty="0"/>
          </a:p>
          <a:p>
            <a:pPr lvl="1">
              <a:lnSpc>
                <a:spcPct val="90000"/>
              </a:lnSpc>
            </a:pPr>
            <a:endParaRPr lang="en-GB" dirty="0"/>
          </a:p>
          <a:p>
            <a:pPr lvl="1">
              <a:lnSpc>
                <a:spcPct val="90000"/>
              </a:lnSpc>
            </a:pPr>
            <a:endParaRPr lang="en-GB"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GB" u="sng" dirty="0"/>
              <a:t>Design Guidelines ..</a:t>
            </a:r>
          </a:p>
        </p:txBody>
      </p:sp>
      <p:sp>
        <p:nvSpPr>
          <p:cNvPr id="15363" name="Rectangle 3"/>
          <p:cNvSpPr>
            <a:spLocks noGrp="1" noChangeArrowheads="1"/>
          </p:cNvSpPr>
          <p:nvPr>
            <p:ph idx="1"/>
          </p:nvPr>
        </p:nvSpPr>
        <p:spPr/>
        <p:txBody>
          <a:bodyPr/>
          <a:lstStyle/>
          <a:p>
            <a:r>
              <a:rPr lang="en-GB" sz="2800" b="1" dirty="0"/>
              <a:t>Page Structure</a:t>
            </a:r>
            <a:endParaRPr lang="en-GB" sz="2800" dirty="0"/>
          </a:p>
          <a:p>
            <a:pPr lvl="1"/>
            <a:r>
              <a:rPr lang="en-GB" sz="2800" dirty="0"/>
              <a:t>Avoid horizontal browsing</a:t>
            </a:r>
          </a:p>
          <a:p>
            <a:pPr lvl="1"/>
            <a:r>
              <a:rPr lang="en-GB" sz="2800" dirty="0"/>
              <a:t>menus and navigation elements, are best arranged on the left and upper page margins.</a:t>
            </a:r>
          </a:p>
          <a:p>
            <a:pPr lvl="1"/>
            <a:endParaRPr lang="en-GB"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GB" u="sng" dirty="0"/>
              <a:t>Design Guidelines ..</a:t>
            </a:r>
            <a:endParaRPr lang="en-US" dirty="0"/>
          </a:p>
        </p:txBody>
      </p:sp>
      <p:sp>
        <p:nvSpPr>
          <p:cNvPr id="16387" name="Rectangle 3"/>
          <p:cNvSpPr>
            <a:spLocks noGrp="1" noChangeArrowheads="1"/>
          </p:cNvSpPr>
          <p:nvPr>
            <p:ph idx="1"/>
          </p:nvPr>
        </p:nvSpPr>
        <p:spPr>
          <a:xfrm>
            <a:off x="768096" y="1916832"/>
            <a:ext cx="8196392" cy="4023360"/>
          </a:xfrm>
        </p:spPr>
        <p:txBody>
          <a:bodyPr>
            <a:noAutofit/>
          </a:bodyPr>
          <a:lstStyle/>
          <a:p>
            <a:pPr>
              <a:lnSpc>
                <a:spcPct val="90000"/>
              </a:lnSpc>
            </a:pPr>
            <a:r>
              <a:rPr lang="en-GB" sz="2800" b="1" dirty="0"/>
              <a:t>Navigation Structure</a:t>
            </a:r>
            <a:endParaRPr lang="en-GB" sz="2800" dirty="0"/>
          </a:p>
          <a:p>
            <a:pPr lvl="1">
              <a:lnSpc>
                <a:spcPct val="90000"/>
              </a:lnSpc>
            </a:pPr>
            <a:r>
              <a:rPr lang="en-GB" sz="2800" dirty="0"/>
              <a:t>The “getting lost in hyperspace syndrome” due to non-linear navigation has to be avoided at any cost.</a:t>
            </a:r>
          </a:p>
          <a:p>
            <a:pPr lvl="1">
              <a:lnSpc>
                <a:spcPct val="90000"/>
              </a:lnSpc>
            </a:pPr>
            <a:r>
              <a:rPr lang="en-GB" sz="2800" dirty="0"/>
              <a:t>Provide a clear and logical basic structure, supported by a sitemap, constant feedback on the current position within the structure (“Where am I?”)</a:t>
            </a:r>
          </a:p>
          <a:p>
            <a:pPr lvl="1">
              <a:lnSpc>
                <a:spcPct val="90000"/>
              </a:lnSpc>
            </a:pPr>
            <a:r>
              <a:rPr lang="en-GB" sz="2800" dirty="0"/>
              <a:t>Provide clear information about the content on the current page (“What can I do or find here?”)</a:t>
            </a:r>
          </a:p>
          <a:p>
            <a:pPr lvl="1">
              <a:lnSpc>
                <a:spcPct val="90000"/>
              </a:lnSpc>
            </a:pPr>
            <a:r>
              <a:rPr lang="en-GB" sz="2800" dirty="0"/>
              <a:t>Give information about the items reachable in the next interaction step (“Where can I go?”)</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768096" y="585216"/>
            <a:ext cx="9564544" cy="1499616"/>
          </a:xfrm>
        </p:spPr>
        <p:txBody>
          <a:bodyPr>
            <a:normAutofit/>
          </a:bodyPr>
          <a:lstStyle/>
          <a:p>
            <a:pPr algn="ctr"/>
            <a:r>
              <a:rPr lang="en-GB" sz="4000" u="sng" dirty="0"/>
              <a:t>Few more </a:t>
            </a:r>
            <a:r>
              <a:rPr lang="en-GB" sz="4000" u="sng" dirty="0">
                <a:solidFill>
                  <a:srgbClr val="FF0000"/>
                </a:solidFill>
              </a:rPr>
              <a:t>Practical</a:t>
            </a:r>
            <a:r>
              <a:rPr lang="en-GB" sz="4000" u="sng" dirty="0"/>
              <a:t> Guidelines</a:t>
            </a:r>
          </a:p>
        </p:txBody>
      </p:sp>
      <p:sp>
        <p:nvSpPr>
          <p:cNvPr id="18435" name="Rectangle 3"/>
          <p:cNvSpPr>
            <a:spLocks noGrp="1" noChangeArrowheads="1"/>
          </p:cNvSpPr>
          <p:nvPr>
            <p:ph idx="1"/>
          </p:nvPr>
        </p:nvSpPr>
        <p:spPr>
          <a:xfrm>
            <a:off x="1115616" y="1844823"/>
            <a:ext cx="7920880" cy="4357539"/>
          </a:xfrm>
        </p:spPr>
        <p:txBody>
          <a:bodyPr>
            <a:normAutofit/>
          </a:bodyPr>
          <a:lstStyle/>
          <a:p>
            <a:pPr marL="571500" indent="-571500">
              <a:buFont typeface="Wingdings" panose="05000000000000000000" pitchFamily="2" charset="2"/>
              <a:buAutoNum type="arabicPeriod"/>
            </a:pPr>
            <a:r>
              <a:rPr lang="en-GB" sz="2400" b="1" dirty="0"/>
              <a:t>Have a Consistent and Standardized UI</a:t>
            </a:r>
          </a:p>
          <a:p>
            <a:pPr marL="839788" lvl="1" indent="-495300"/>
            <a:r>
              <a:rPr lang="en-GB" sz="2400" dirty="0"/>
              <a:t>keep it constant for all pages</a:t>
            </a:r>
          </a:p>
          <a:p>
            <a:pPr marL="571500" indent="-571500">
              <a:buFont typeface="Wingdings" panose="05000000000000000000" pitchFamily="2" charset="2"/>
              <a:buNone/>
            </a:pPr>
            <a:endParaRPr lang="en-GB" sz="2400" dirty="0"/>
          </a:p>
          <a:p>
            <a:pPr marL="839788" lvl="1" indent="-495300"/>
            <a:r>
              <a:rPr lang="en-GB" sz="2400" dirty="0"/>
              <a:t>Be consistent, whether it’s </a:t>
            </a:r>
          </a:p>
          <a:p>
            <a:pPr marL="571500" indent="-571500">
              <a:buFont typeface="Wingdings" panose="05000000000000000000" pitchFamily="2" charset="2"/>
              <a:buNone/>
            </a:pPr>
            <a:r>
              <a:rPr lang="en-GB" sz="2400" dirty="0"/>
              <a:t>	</a:t>
            </a:r>
            <a:r>
              <a:rPr lang="en-GB" sz="2400" dirty="0" err="1">
                <a:solidFill>
                  <a:srgbClr val="FF0000"/>
                </a:solidFill>
              </a:rPr>
              <a:t>color</a:t>
            </a:r>
            <a:r>
              <a:rPr lang="en-GB" sz="2400" dirty="0">
                <a:solidFill>
                  <a:srgbClr val="FF0000"/>
                </a:solidFill>
              </a:rPr>
              <a:t> scheme </a:t>
            </a:r>
            <a:r>
              <a:rPr lang="en-GB" sz="2400" dirty="0"/>
              <a:t>or</a:t>
            </a:r>
          </a:p>
          <a:p>
            <a:pPr marL="571500" indent="-571500">
              <a:buFont typeface="Wingdings" panose="05000000000000000000" pitchFamily="2" charset="2"/>
              <a:buNone/>
            </a:pPr>
            <a:r>
              <a:rPr lang="en-GB" sz="2400" dirty="0"/>
              <a:t>layout and order of elements </a:t>
            </a:r>
          </a:p>
          <a:p>
            <a:pPr marL="571500" indent="-571500">
              <a:buFont typeface="Wingdings" panose="05000000000000000000" pitchFamily="2" charset="2"/>
              <a:buNone/>
            </a:pPr>
            <a:r>
              <a:rPr lang="en-GB" sz="2400" dirty="0"/>
              <a:t>						or </a:t>
            </a:r>
            <a:r>
              <a:rPr lang="en-GB" sz="2400" u="sng" dirty="0"/>
              <a:t>anything else</a:t>
            </a:r>
            <a:r>
              <a:rPr lang="en-GB" sz="2400" dirty="0"/>
              <a:t>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GB" b="0"/>
              <a:t>2. Guide the user</a:t>
            </a:r>
          </a:p>
        </p:txBody>
      </p:sp>
      <p:sp>
        <p:nvSpPr>
          <p:cNvPr id="20483" name="Rectangle 3"/>
          <p:cNvSpPr>
            <a:spLocks noGrp="1" noChangeArrowheads="1"/>
          </p:cNvSpPr>
          <p:nvPr>
            <p:ph idx="1"/>
          </p:nvPr>
        </p:nvSpPr>
        <p:spPr/>
        <p:txBody>
          <a:bodyPr/>
          <a:lstStyle/>
          <a:p>
            <a:pPr marL="571500" indent="-571500">
              <a:buFont typeface="Wingdings" panose="05000000000000000000" pitchFamily="2" charset="2"/>
              <a:buNone/>
            </a:pPr>
            <a:endParaRPr lang="en-GB" b="1"/>
          </a:p>
          <a:p>
            <a:pPr marL="571500" indent="-571500">
              <a:buFont typeface="Wingdings" panose="05000000000000000000" pitchFamily="2" charset="2"/>
              <a:buNone/>
            </a:pPr>
            <a:endParaRPr lang="en-GB"/>
          </a:p>
        </p:txBody>
      </p:sp>
      <p:sp>
        <p:nvSpPr>
          <p:cNvPr id="20484" name="Text Box 4"/>
          <p:cNvSpPr txBox="1">
            <a:spLocks noChangeArrowheads="1"/>
          </p:cNvSpPr>
          <p:nvPr/>
        </p:nvSpPr>
        <p:spPr bwMode="auto">
          <a:xfrm>
            <a:off x="611560" y="2254297"/>
            <a:ext cx="8424863" cy="895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GB" dirty="0"/>
              <a:t>The worst thing to a user is having to guess what to do next.</a:t>
            </a:r>
          </a:p>
          <a:p>
            <a:r>
              <a:rPr lang="en-GB" dirty="0"/>
              <a:t>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algn="ctr"/>
            <a:r>
              <a:rPr lang="en-GB" dirty="0"/>
              <a:t>Guide the User</a:t>
            </a:r>
          </a:p>
        </p:txBody>
      </p:sp>
      <p:sp>
        <p:nvSpPr>
          <p:cNvPr id="21507" name="Rectangle 3"/>
          <p:cNvSpPr>
            <a:spLocks noGrp="1" noChangeArrowheads="1"/>
          </p:cNvSpPr>
          <p:nvPr>
            <p:ph idx="1"/>
          </p:nvPr>
        </p:nvSpPr>
        <p:spPr>
          <a:xfrm>
            <a:off x="768096" y="2286000"/>
            <a:ext cx="8124384" cy="4023360"/>
          </a:xfrm>
        </p:spPr>
        <p:txBody>
          <a:bodyPr/>
          <a:lstStyle/>
          <a:p>
            <a:pPr>
              <a:buFont typeface="Wingdings" panose="05000000000000000000" pitchFamily="2" charset="2"/>
              <a:buChar char="§"/>
            </a:pPr>
            <a:r>
              <a:rPr lang="en-GB" sz="2800" dirty="0">
                <a:solidFill>
                  <a:srgbClr val="800000"/>
                </a:solidFill>
              </a:rPr>
              <a:t>The worst thing to a user is having to guess what to do next.</a:t>
            </a:r>
          </a:p>
          <a:p>
            <a:pPr>
              <a:buFont typeface="Wingdings" panose="05000000000000000000" pitchFamily="2" charset="2"/>
              <a:buChar char="§"/>
            </a:pPr>
            <a:r>
              <a:rPr lang="en-GB" sz="2800" dirty="0"/>
              <a:t>Make it clear where to click to progress</a:t>
            </a:r>
          </a:p>
          <a:p>
            <a:pPr>
              <a:buFont typeface="Wingdings" panose="05000000000000000000" pitchFamily="2" charset="2"/>
              <a:buChar char="§"/>
            </a:pPr>
            <a:r>
              <a:rPr lang="en-GB" sz="2800" dirty="0"/>
              <a:t>Make the button or action area prominently displayed [if one action is more important than other]</a:t>
            </a:r>
          </a:p>
          <a:p>
            <a:pPr>
              <a:buFont typeface="Wingdings" panose="05000000000000000000" pitchFamily="2" charset="2"/>
              <a:buChar char="§"/>
            </a:pPr>
            <a:endParaRPr lang="en-GB"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768096" y="585216"/>
            <a:ext cx="7980368" cy="1499616"/>
          </a:xfrm>
        </p:spPr>
        <p:txBody>
          <a:bodyPr>
            <a:normAutofit/>
          </a:bodyPr>
          <a:lstStyle/>
          <a:p>
            <a:r>
              <a:rPr lang="en-GB" sz="3200" dirty="0"/>
              <a:t>3. Make (Call-to-Action) Interactive Objects Obvious</a:t>
            </a:r>
          </a:p>
        </p:txBody>
      </p:sp>
      <p:sp>
        <p:nvSpPr>
          <p:cNvPr id="22531" name="Rectangle 3"/>
          <p:cNvSpPr>
            <a:spLocks noGrp="1" noChangeArrowheads="1"/>
          </p:cNvSpPr>
          <p:nvPr>
            <p:ph idx="1"/>
          </p:nvPr>
        </p:nvSpPr>
        <p:spPr/>
        <p:txBody>
          <a:bodyPr>
            <a:normAutofit/>
          </a:bodyPr>
          <a:lstStyle/>
          <a:p>
            <a:r>
              <a:rPr lang="en-GB" sz="2800" dirty="0"/>
              <a:t>Make click and tap targets as large as possible</a:t>
            </a:r>
          </a:p>
          <a:p>
            <a:r>
              <a:rPr lang="en-GB" sz="2800" dirty="0"/>
              <a:t>make the interactive objects big and obvious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3"/>
          <p:cNvSpPr>
            <a:spLocks noGrp="1" noChangeArrowheads="1"/>
          </p:cNvSpPr>
          <p:nvPr>
            <p:ph idx="1"/>
          </p:nvPr>
        </p:nvSpPr>
        <p:spPr/>
        <p:txBody>
          <a:bodyPr/>
          <a:lstStyle/>
          <a:p>
            <a:pPr>
              <a:buFont typeface="Wingdings" panose="05000000000000000000" pitchFamily="2" charset="2"/>
              <a:buNone/>
            </a:pPr>
            <a:endParaRPr lang="en-US"/>
          </a:p>
        </p:txBody>
      </p:sp>
      <p:pic>
        <p:nvPicPr>
          <p:cNvPr id="23556" name="Picture 4" descr="web-app-example-03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333375"/>
            <a:ext cx="8128000" cy="2540000"/>
          </a:xfrm>
          <a:prstGeom prst="rect">
            <a:avLst/>
          </a:prstGeom>
          <a:noFill/>
          <a:extLst>
            <a:ext uri="{909E8E84-426E-40DD-AFC4-6F175D3DCCD1}">
              <a14:hiddenFill xmlns:a14="http://schemas.microsoft.com/office/drawing/2010/main">
                <a:solidFill>
                  <a:srgbClr val="FFFFFF"/>
                </a:solidFill>
              </a14:hiddenFill>
            </a:ext>
          </a:extLst>
        </p:spPr>
      </p:pic>
      <p:pic>
        <p:nvPicPr>
          <p:cNvPr id="23557" name="Picture 5" descr="web-app-example-03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3" y="3500438"/>
            <a:ext cx="8128000" cy="2540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565816" y="0"/>
            <a:ext cx="8758711" cy="1499616"/>
          </a:xfrm>
        </p:spPr>
        <p:txBody>
          <a:bodyPr>
            <a:normAutofit/>
          </a:bodyPr>
          <a:lstStyle/>
          <a:p>
            <a:pPr algn="ctr"/>
            <a:r>
              <a:rPr lang="en-GB" sz="3600" dirty="0"/>
              <a:t>4. Give Feedback – Both for User’s Interacting and Progressing</a:t>
            </a:r>
          </a:p>
        </p:txBody>
      </p:sp>
      <p:sp>
        <p:nvSpPr>
          <p:cNvPr id="24579" name="Rectangle 3"/>
          <p:cNvSpPr>
            <a:spLocks noGrp="1" noChangeArrowheads="1"/>
          </p:cNvSpPr>
          <p:nvPr>
            <p:ph idx="1"/>
          </p:nvPr>
        </p:nvSpPr>
        <p:spPr>
          <a:xfrm>
            <a:off x="565816" y="1666744"/>
            <a:ext cx="8229600" cy="1006475"/>
          </a:xfrm>
        </p:spPr>
        <p:txBody>
          <a:bodyPr>
            <a:normAutofit/>
          </a:bodyPr>
          <a:lstStyle/>
          <a:p>
            <a:r>
              <a:rPr lang="en-GB" sz="2400" dirty="0"/>
              <a:t>Worst thing that can happen in a web app: </a:t>
            </a:r>
          </a:p>
          <a:p>
            <a:pPr>
              <a:buFont typeface="Wingdings" panose="05000000000000000000" pitchFamily="2" charset="2"/>
              <a:buNone/>
            </a:pPr>
            <a:r>
              <a:rPr lang="en-GB" sz="2400" dirty="0"/>
              <a:t>	</a:t>
            </a:r>
            <a:r>
              <a:rPr lang="en-GB" sz="2400" dirty="0">
                <a:solidFill>
                  <a:srgbClr val="FF0000"/>
                </a:solidFill>
              </a:rPr>
              <a:t>not knowing if your click or tap went through</a:t>
            </a:r>
            <a:endParaRPr lang="en-GB" sz="2400" dirty="0"/>
          </a:p>
        </p:txBody>
      </p:sp>
      <p:sp>
        <p:nvSpPr>
          <p:cNvPr id="24580" name="Text Box 4"/>
          <p:cNvSpPr txBox="1">
            <a:spLocks noChangeArrowheads="1"/>
          </p:cNvSpPr>
          <p:nvPr/>
        </p:nvSpPr>
        <p:spPr bwMode="auto">
          <a:xfrm>
            <a:off x="683568" y="2708275"/>
            <a:ext cx="8136582" cy="1739900"/>
          </a:xfrm>
          <a:prstGeom prst="rect">
            <a:avLst/>
          </a:prstGeom>
          <a:solidFill>
            <a:srgbClr val="FF66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GB" sz="3600" b="1" dirty="0">
                <a:solidFill>
                  <a:schemeClr val="tx1"/>
                </a:solidFill>
              </a:rPr>
              <a:t>Give visual feedback when a user is interacting, as well as the user’s progress if applicable.</a:t>
            </a:r>
          </a:p>
        </p:txBody>
      </p:sp>
      <p:sp>
        <p:nvSpPr>
          <p:cNvPr id="24582" name="Rectangle 6"/>
          <p:cNvSpPr>
            <a:spLocks noChangeArrowheads="1"/>
          </p:cNvSpPr>
          <p:nvPr/>
        </p:nvSpPr>
        <p:spPr bwMode="auto">
          <a:xfrm>
            <a:off x="827088" y="5084763"/>
            <a:ext cx="7777162" cy="936625"/>
          </a:xfrm>
          <a:prstGeom prst="rect">
            <a:avLst/>
          </a:prstGeom>
          <a:solidFill>
            <a:srgbClr val="C0C0C0"/>
          </a:solidFill>
          <a:ln w="38100" cmpd="dbl" algn="ctr">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24583" name="Picture 7" descr="snake_transpare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67175" y="5229225"/>
            <a:ext cx="287338" cy="287338"/>
          </a:xfrm>
          <a:prstGeom prst="rect">
            <a:avLst/>
          </a:prstGeom>
          <a:noFill/>
          <a:extLst>
            <a:ext uri="{909E8E84-426E-40DD-AFC4-6F175D3DCCD1}">
              <a14:hiddenFill xmlns:a14="http://schemas.microsoft.com/office/drawing/2010/main">
                <a:solidFill>
                  <a:srgbClr val="FFFFFF"/>
                </a:solidFill>
              </a14:hiddenFill>
            </a:ext>
          </a:extLst>
        </p:spPr>
      </p:pic>
      <p:pic>
        <p:nvPicPr>
          <p:cNvPr id="24584" name="Picture 8" descr="icon_animated_busy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7900" y="5229225"/>
            <a:ext cx="287338" cy="287338"/>
          </a:xfrm>
          <a:prstGeom prst="rect">
            <a:avLst/>
          </a:prstGeom>
          <a:noFill/>
          <a:extLst>
            <a:ext uri="{909E8E84-426E-40DD-AFC4-6F175D3DCCD1}">
              <a14:hiddenFill xmlns:a14="http://schemas.microsoft.com/office/drawing/2010/main">
                <a:solidFill>
                  <a:srgbClr val="FFFFFF"/>
                </a:solidFill>
              </a14:hiddenFill>
            </a:ext>
          </a:extLst>
        </p:spPr>
      </p:pic>
      <p:pic>
        <p:nvPicPr>
          <p:cNvPr id="24585" name="Picture 9" descr="icon_animated_busy2_2"/>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5508625" y="5229225"/>
            <a:ext cx="287338" cy="287338"/>
          </a:xfrm>
          <a:prstGeom prst="rect">
            <a:avLst/>
          </a:prstGeom>
          <a:noFill/>
          <a:extLst>
            <a:ext uri="{909E8E84-426E-40DD-AFC4-6F175D3DCCD1}">
              <a14:hiddenFill xmlns:a14="http://schemas.microsoft.com/office/drawing/2010/main">
                <a:solidFill>
                  <a:srgbClr val="FFFFFF"/>
                </a:solidFill>
              </a14:hiddenFill>
            </a:ext>
          </a:extLst>
        </p:spPr>
      </p:pic>
      <p:pic>
        <p:nvPicPr>
          <p:cNvPr id="24586" name="Picture 10" descr="icon_animated_busy2_2_5"/>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3348038" y="5229225"/>
            <a:ext cx="287337" cy="287338"/>
          </a:xfrm>
          <a:prstGeom prst="rect">
            <a:avLst/>
          </a:prstGeom>
          <a:noFill/>
          <a:extLst>
            <a:ext uri="{909E8E84-426E-40DD-AFC4-6F175D3DCCD1}">
              <a14:hiddenFill xmlns:a14="http://schemas.microsoft.com/office/drawing/2010/main">
                <a:solidFill>
                  <a:srgbClr val="FFFFFF"/>
                </a:solidFill>
              </a14:hiddenFill>
            </a:ext>
          </a:extLst>
        </p:spPr>
      </p:pic>
      <p:pic>
        <p:nvPicPr>
          <p:cNvPr id="24587" name="Picture 11" descr="icon_animated_busy"/>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55875" y="5229225"/>
            <a:ext cx="287338" cy="287338"/>
          </a:xfrm>
          <a:prstGeom prst="rect">
            <a:avLst/>
          </a:prstGeom>
          <a:noFill/>
          <a:extLst>
            <a:ext uri="{909E8E84-426E-40DD-AFC4-6F175D3DCCD1}">
              <a14:hiddenFill xmlns:a14="http://schemas.microsoft.com/office/drawing/2010/main">
                <a:solidFill>
                  <a:srgbClr val="FFFFFF"/>
                </a:solidFill>
              </a14:hiddenFill>
            </a:ext>
          </a:extLst>
        </p:spPr>
      </p:pic>
      <p:pic>
        <p:nvPicPr>
          <p:cNvPr id="24588" name="Picture 12" descr="indicator"/>
          <p:cNvPicPr>
            <a:picLocks noChangeAspect="1" noChangeArrowheads="1" noCrop="1"/>
          </p:cNvPicPr>
          <p:nvPr/>
        </p:nvPicPr>
        <p:blipFill>
          <a:blip r:embed="rId7">
            <a:extLst>
              <a:ext uri="{28A0092B-C50C-407E-A947-70E740481C1C}">
                <a14:useLocalDpi xmlns:a14="http://schemas.microsoft.com/office/drawing/2010/main" val="0"/>
              </a:ext>
            </a:extLst>
          </a:blip>
          <a:srcRect/>
          <a:stretch>
            <a:fillRect/>
          </a:stretch>
        </p:blipFill>
        <p:spPr bwMode="auto">
          <a:xfrm>
            <a:off x="1116013" y="5229225"/>
            <a:ext cx="287337" cy="287338"/>
          </a:xfrm>
          <a:prstGeom prst="rect">
            <a:avLst/>
          </a:prstGeom>
          <a:noFill/>
          <a:extLst>
            <a:ext uri="{909E8E84-426E-40DD-AFC4-6F175D3DCCD1}">
              <a14:hiddenFill xmlns:a14="http://schemas.microsoft.com/office/drawing/2010/main">
                <a:solidFill>
                  <a:srgbClr val="FFFFFF"/>
                </a:solidFill>
              </a14:hiddenFill>
            </a:ext>
          </a:extLst>
        </p:spPr>
      </p:pic>
      <p:pic>
        <p:nvPicPr>
          <p:cNvPr id="24589" name="Picture 13" descr="indicator"/>
          <p:cNvPicPr>
            <a:picLocks noChangeAspect="1" noChangeArrowheads="1" noCrop="1"/>
          </p:cNvPicPr>
          <p:nvPr/>
        </p:nvPicPr>
        <p:blipFill>
          <a:blip r:embed="rId8">
            <a:extLst>
              <a:ext uri="{28A0092B-C50C-407E-A947-70E740481C1C}">
                <a14:useLocalDpi xmlns:a14="http://schemas.microsoft.com/office/drawing/2010/main" val="0"/>
              </a:ext>
            </a:extLst>
          </a:blip>
          <a:srcRect/>
          <a:stretch>
            <a:fillRect/>
          </a:stretch>
        </p:blipFill>
        <p:spPr bwMode="auto">
          <a:xfrm>
            <a:off x="1763713" y="5229225"/>
            <a:ext cx="287337" cy="287338"/>
          </a:xfrm>
          <a:prstGeom prst="rect">
            <a:avLst/>
          </a:prstGeom>
          <a:noFill/>
          <a:extLst>
            <a:ext uri="{909E8E84-426E-40DD-AFC4-6F175D3DCCD1}">
              <a14:hiddenFill xmlns:a14="http://schemas.microsoft.com/office/drawing/2010/main">
                <a:solidFill>
                  <a:srgbClr val="FFFFFF"/>
                </a:solidFill>
              </a14:hiddenFill>
            </a:ext>
          </a:extLst>
        </p:spPr>
      </p:pic>
      <p:pic>
        <p:nvPicPr>
          <p:cNvPr id="24590" name="Picture 14" descr="progressbarlong"/>
          <p:cNvPicPr>
            <a:picLocks noChangeAspect="1" noChangeArrowheads="1" noCrop="1"/>
          </p:cNvPicPr>
          <p:nvPr/>
        </p:nvPicPr>
        <p:blipFill>
          <a:blip r:embed="rId9">
            <a:extLst>
              <a:ext uri="{28A0092B-C50C-407E-A947-70E740481C1C}">
                <a14:useLocalDpi xmlns:a14="http://schemas.microsoft.com/office/drawing/2010/main" val="0"/>
              </a:ext>
            </a:extLst>
          </a:blip>
          <a:srcRect/>
          <a:stretch>
            <a:fillRect/>
          </a:stretch>
        </p:blipFill>
        <p:spPr bwMode="auto">
          <a:xfrm>
            <a:off x="6156325" y="5300663"/>
            <a:ext cx="952500" cy="152400"/>
          </a:xfrm>
          <a:prstGeom prst="rect">
            <a:avLst/>
          </a:prstGeom>
          <a:noFill/>
          <a:extLst>
            <a:ext uri="{909E8E84-426E-40DD-AFC4-6F175D3DCCD1}">
              <a14:hiddenFill xmlns:a14="http://schemas.microsoft.com/office/drawing/2010/main">
                <a:solidFill>
                  <a:srgbClr val="FFFFFF"/>
                </a:solidFill>
              </a14:hiddenFill>
            </a:ext>
          </a:extLst>
        </p:spPr>
      </p:pic>
      <p:pic>
        <p:nvPicPr>
          <p:cNvPr id="24591" name="Picture 15" descr="radar-transparent"/>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87450" y="5661025"/>
            <a:ext cx="215900" cy="215900"/>
          </a:xfrm>
          <a:prstGeom prst="rect">
            <a:avLst/>
          </a:prstGeom>
          <a:noFill/>
          <a:extLst>
            <a:ext uri="{909E8E84-426E-40DD-AFC4-6F175D3DCCD1}">
              <a14:hiddenFill xmlns:a14="http://schemas.microsoft.com/office/drawing/2010/main">
                <a:solidFill>
                  <a:srgbClr val="FFFFFF"/>
                </a:solidFill>
              </a14:hiddenFill>
            </a:ext>
          </a:extLst>
        </p:spPr>
      </p:pic>
      <p:pic>
        <p:nvPicPr>
          <p:cNvPr id="24592" name="Picture 16" descr="scanne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835150" y="5661025"/>
            <a:ext cx="360363" cy="203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611560" y="260648"/>
            <a:ext cx="8196392" cy="395512"/>
          </a:xfrm>
        </p:spPr>
        <p:txBody>
          <a:bodyPr>
            <a:noAutofit/>
          </a:bodyPr>
          <a:lstStyle/>
          <a:p>
            <a:pPr algn="ctr"/>
            <a:r>
              <a:rPr lang="en-GB" sz="2800" dirty="0"/>
              <a:t>5. Never Have Users Repeat Anything &amp; Keep Signup Info to a Minimum</a:t>
            </a:r>
          </a:p>
        </p:txBody>
      </p:sp>
      <p:sp>
        <p:nvSpPr>
          <p:cNvPr id="26627" name="Rectangle 3"/>
          <p:cNvSpPr>
            <a:spLocks noGrp="1" noChangeArrowheads="1"/>
          </p:cNvSpPr>
          <p:nvPr>
            <p:ph idx="1"/>
          </p:nvPr>
        </p:nvSpPr>
        <p:spPr>
          <a:xfrm>
            <a:off x="457200" y="1341438"/>
            <a:ext cx="8229600" cy="2232025"/>
          </a:xfrm>
        </p:spPr>
        <p:txBody>
          <a:bodyPr/>
          <a:lstStyle/>
          <a:p>
            <a:r>
              <a:rPr lang="en-GB"/>
              <a:t>Ask for any info only once</a:t>
            </a:r>
          </a:p>
          <a:p>
            <a:r>
              <a:rPr lang="en-GB">
                <a:solidFill>
                  <a:srgbClr val="FF0000"/>
                </a:solidFill>
              </a:rPr>
              <a:t>Avoid: Asking user to fill in lots of text-fields during sign up</a:t>
            </a:r>
          </a:p>
          <a:p>
            <a:pPr lvl="1"/>
            <a:r>
              <a:rPr lang="en-GB"/>
              <a:t>maximum of five or six fields</a:t>
            </a:r>
          </a:p>
          <a:p>
            <a:endParaRPr lang="en-GB">
              <a:solidFill>
                <a:srgbClr val="FF0000"/>
              </a:solidFill>
            </a:endParaRPr>
          </a:p>
          <a:p>
            <a:endParaRPr lang="en-GB"/>
          </a:p>
        </p:txBody>
      </p:sp>
      <p:pic>
        <p:nvPicPr>
          <p:cNvPr id="26628" name="Picture 4" descr="web-app-example-05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000" y="1165225"/>
            <a:ext cx="8128000" cy="5359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6628"/>
                                        </p:tgtEl>
                                        <p:attrNameLst>
                                          <p:attrName>style.visibility</p:attrName>
                                        </p:attrNameLst>
                                      </p:cBhvr>
                                      <p:to>
                                        <p:strVal val="visible"/>
                                      </p:to>
                                    </p:set>
                                    <p:anim calcmode="lin" valueType="num">
                                      <p:cBhvr additive="base">
                                        <p:cTn id="7" dur="500" fill="hold"/>
                                        <p:tgtEl>
                                          <p:spTgt spid="26628"/>
                                        </p:tgtEl>
                                        <p:attrNameLst>
                                          <p:attrName>ppt_x</p:attrName>
                                        </p:attrNameLst>
                                      </p:cBhvr>
                                      <p:tavLst>
                                        <p:tav tm="0">
                                          <p:val>
                                            <p:strVal val="#ppt_x"/>
                                          </p:val>
                                        </p:tav>
                                        <p:tav tm="100000">
                                          <p:val>
                                            <p:strVal val="#ppt_x"/>
                                          </p:val>
                                        </p:tav>
                                      </p:tavLst>
                                    </p:anim>
                                    <p:anim calcmode="lin" valueType="num">
                                      <p:cBhvr additive="base">
                                        <p:cTn id="8" dur="500" fill="hold"/>
                                        <p:tgtEl>
                                          <p:spTgt spid="266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768096" y="585216"/>
            <a:ext cx="8268400" cy="1499616"/>
          </a:xfrm>
        </p:spPr>
        <p:txBody>
          <a:bodyPr>
            <a:normAutofit/>
          </a:bodyPr>
          <a:lstStyle/>
          <a:p>
            <a:pPr algn="ctr"/>
            <a:r>
              <a:rPr lang="en-GB" sz="4000" dirty="0"/>
              <a:t>6. Always Have Default Values in Fields and Forms</a:t>
            </a:r>
          </a:p>
        </p:txBody>
      </p:sp>
      <p:sp>
        <p:nvSpPr>
          <p:cNvPr id="27651" name="Rectangle 3"/>
          <p:cNvSpPr>
            <a:spLocks noGrp="1" noChangeArrowheads="1"/>
          </p:cNvSpPr>
          <p:nvPr>
            <p:ph idx="1"/>
          </p:nvPr>
        </p:nvSpPr>
        <p:spPr>
          <a:xfrm>
            <a:off x="768096" y="2286000"/>
            <a:ext cx="8375904" cy="4023360"/>
          </a:xfrm>
        </p:spPr>
        <p:txBody>
          <a:bodyPr>
            <a:normAutofit/>
          </a:bodyPr>
          <a:lstStyle/>
          <a:p>
            <a:r>
              <a:rPr lang="en-GB" sz="3200" dirty="0"/>
              <a:t>Having a simple default value in a text field will push the user in the right direction </a:t>
            </a:r>
          </a:p>
          <a:p>
            <a:endParaRPr lang="en-GB" sz="3200" dirty="0"/>
          </a:p>
          <a:p>
            <a:pPr lvl="1"/>
            <a:r>
              <a:rPr lang="en-GB" sz="3200" dirty="0"/>
              <a:t>“First name”, “Last name”, “Email address”, “Password”, “Country”, and so forth.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737934" y="-51882"/>
            <a:ext cx="8298562" cy="1499616"/>
          </a:xfrm>
        </p:spPr>
        <p:txBody>
          <a:bodyPr/>
          <a:lstStyle/>
          <a:p>
            <a:pPr algn="ctr"/>
            <a:r>
              <a:rPr lang="en-GB" dirty="0"/>
              <a:t>7. Explain How the Input Info Will Be Used</a:t>
            </a:r>
          </a:p>
        </p:txBody>
      </p:sp>
      <p:sp>
        <p:nvSpPr>
          <p:cNvPr id="28675" name="Rectangle 3"/>
          <p:cNvSpPr>
            <a:spLocks noGrp="1" noChangeArrowheads="1"/>
          </p:cNvSpPr>
          <p:nvPr>
            <p:ph idx="1"/>
          </p:nvPr>
        </p:nvSpPr>
        <p:spPr>
          <a:xfrm>
            <a:off x="683568" y="1596232"/>
            <a:ext cx="8229600" cy="1511300"/>
          </a:xfrm>
        </p:spPr>
        <p:txBody>
          <a:bodyPr>
            <a:normAutofit/>
          </a:bodyPr>
          <a:lstStyle/>
          <a:p>
            <a:r>
              <a:rPr lang="en-GB" sz="2800" dirty="0"/>
              <a:t>Make it as clear, comfortable and affirming as possible for your users by clearly explaining how any input info will be used </a:t>
            </a:r>
          </a:p>
        </p:txBody>
      </p:sp>
      <p:sp>
        <p:nvSpPr>
          <p:cNvPr id="28676" name="Text Box 4"/>
          <p:cNvSpPr txBox="1">
            <a:spLocks noChangeArrowheads="1"/>
          </p:cNvSpPr>
          <p:nvPr/>
        </p:nvSpPr>
        <p:spPr bwMode="auto">
          <a:xfrm>
            <a:off x="468313" y="2997200"/>
            <a:ext cx="79216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GB" sz="3200" dirty="0">
                <a:solidFill>
                  <a:srgbClr val="FF0000"/>
                </a:solidFill>
                <a:latin typeface="Calibri" panose="020F0502020204030204" pitchFamily="34" charset="0"/>
              </a:rPr>
              <a:t>“Your email will be your login username”</a:t>
            </a:r>
          </a:p>
        </p:txBody>
      </p:sp>
      <p:sp>
        <p:nvSpPr>
          <p:cNvPr id="28677" name="Text Box 5"/>
          <p:cNvSpPr txBox="1">
            <a:spLocks noChangeArrowheads="1"/>
          </p:cNvSpPr>
          <p:nvPr/>
        </p:nvSpPr>
        <p:spPr bwMode="auto">
          <a:xfrm>
            <a:off x="946299" y="3933056"/>
            <a:ext cx="7704138"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GB" sz="3200" dirty="0">
                <a:solidFill>
                  <a:srgbClr val="FF0000"/>
                </a:solidFill>
                <a:latin typeface="Lucida Calligraphy" panose="03010101010101010101" pitchFamily="66" charset="0"/>
              </a:rPr>
              <a:t>“Your location will be used to deliver the info about events in your area”</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0" presetClass="entr" presetSubtype="0" fill="hold" grpId="0" nodeType="clickEffect">
                                  <p:stCondLst>
                                    <p:cond delay="0"/>
                                  </p:stCondLst>
                                  <p:iterate type="lt">
                                    <p:tmPct val="10000"/>
                                  </p:iterate>
                                  <p:childTnLst>
                                    <p:set>
                                      <p:cBhvr>
                                        <p:cTn id="6" dur="1" fill="hold">
                                          <p:stCondLst>
                                            <p:cond delay="0"/>
                                          </p:stCondLst>
                                        </p:cTn>
                                        <p:tgtEl>
                                          <p:spTgt spid="28676"/>
                                        </p:tgtEl>
                                        <p:attrNameLst>
                                          <p:attrName>style.visibility</p:attrName>
                                        </p:attrNameLst>
                                      </p:cBhvr>
                                      <p:to>
                                        <p:strVal val="visible"/>
                                      </p:to>
                                    </p:set>
                                    <p:animEffect transition="in" filter="fade">
                                      <p:cBhvr>
                                        <p:cTn id="7" dur="1000"/>
                                        <p:tgtEl>
                                          <p:spTgt spid="28676"/>
                                        </p:tgtEl>
                                      </p:cBhvr>
                                    </p:animEffect>
                                    <p:anim calcmode="lin" valueType="num">
                                      <p:cBhvr>
                                        <p:cTn id="8" dur="1000" fill="hold"/>
                                        <p:tgtEl>
                                          <p:spTgt spid="28676"/>
                                        </p:tgtEl>
                                        <p:attrNameLst>
                                          <p:attrName>ppt_x</p:attrName>
                                        </p:attrNameLst>
                                      </p:cBhvr>
                                      <p:tavLst>
                                        <p:tav tm="0">
                                          <p:val>
                                            <p:strVal val="#ppt_x-.1"/>
                                          </p:val>
                                        </p:tav>
                                        <p:tav tm="100000">
                                          <p:val>
                                            <p:strVal val="#ppt_x"/>
                                          </p:val>
                                        </p:tav>
                                      </p:tavLst>
                                    </p:anim>
                                    <p:anim calcmode="lin" valueType="num">
                                      <p:cBhvr>
                                        <p:cTn id="9" dur="1000" fill="hold"/>
                                        <p:tgtEl>
                                          <p:spTgt spid="28676"/>
                                        </p:tgtEl>
                                        <p:attrNameLst>
                                          <p:attrName>ppt_y</p:attrName>
                                        </p:attrNameLst>
                                      </p:cBhvr>
                                      <p:tavLst>
                                        <p:tav tm="0">
                                          <p:val>
                                            <p:strVal val="#ppt_y"/>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8" presetClass="entr" presetSubtype="16" fill="hold" grpId="0" nodeType="clickEffect">
                                  <p:stCondLst>
                                    <p:cond delay="0"/>
                                  </p:stCondLst>
                                  <p:childTnLst>
                                    <p:set>
                                      <p:cBhvr>
                                        <p:cTn id="13" dur="1" fill="hold">
                                          <p:stCondLst>
                                            <p:cond delay="0"/>
                                          </p:stCondLst>
                                        </p:cTn>
                                        <p:tgtEl>
                                          <p:spTgt spid="28677"/>
                                        </p:tgtEl>
                                        <p:attrNameLst>
                                          <p:attrName>style.visibility</p:attrName>
                                        </p:attrNameLst>
                                      </p:cBhvr>
                                      <p:to>
                                        <p:strVal val="visible"/>
                                      </p:to>
                                    </p:set>
                                    <p:animEffect transition="in" filter="diamond(in)">
                                      <p:cBhvr>
                                        <p:cTn id="14" dur="2000"/>
                                        <p:tgtEl>
                                          <p:spTgt spid="286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6" grpId="0"/>
      <p:bldP spid="2867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700" name="Picture 4" descr="web-app-example-07b"/>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9425" y="260350"/>
            <a:ext cx="8124825" cy="2336800"/>
          </a:xfrm>
          <a:prstGeom prst="rect">
            <a:avLst/>
          </a:prstGeom>
          <a:noFill/>
          <a:extLst>
            <a:ext uri="{909E8E84-426E-40DD-AFC4-6F175D3DCCD1}">
              <a14:hiddenFill xmlns:a14="http://schemas.microsoft.com/office/drawing/2010/main">
                <a:solidFill>
                  <a:srgbClr val="FFFFFF"/>
                </a:solidFill>
              </a14:hiddenFill>
            </a:ext>
          </a:extLst>
        </p:spPr>
      </p:pic>
      <p:pic>
        <p:nvPicPr>
          <p:cNvPr id="29701" name="Picture 5" descr="web-app-example-07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3284538"/>
            <a:ext cx="8128000" cy="2336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768096" y="585216"/>
            <a:ext cx="8219368" cy="1499616"/>
          </a:xfrm>
        </p:spPr>
        <p:txBody>
          <a:bodyPr>
            <a:normAutofit/>
          </a:bodyPr>
          <a:lstStyle/>
          <a:p>
            <a:pPr algn="ctr"/>
            <a:r>
              <a:rPr lang="en-GB" sz="3600" dirty="0"/>
              <a:t>8. Don’t Have any Reset or Mass-Delete Buttons</a:t>
            </a:r>
          </a:p>
        </p:txBody>
      </p:sp>
      <p:sp>
        <p:nvSpPr>
          <p:cNvPr id="30723" name="Rectangle 3"/>
          <p:cNvSpPr>
            <a:spLocks noGrp="1" noChangeArrowheads="1"/>
          </p:cNvSpPr>
          <p:nvPr>
            <p:ph idx="1"/>
          </p:nvPr>
        </p:nvSpPr>
        <p:spPr>
          <a:xfrm>
            <a:off x="611560" y="1988840"/>
            <a:ext cx="8375904" cy="4023360"/>
          </a:xfrm>
        </p:spPr>
        <p:txBody>
          <a:bodyPr>
            <a:normAutofit/>
          </a:bodyPr>
          <a:lstStyle/>
          <a:p>
            <a:r>
              <a:rPr lang="en-GB" sz="3200" dirty="0"/>
              <a:t>A user never requires to delete all data and start again</a:t>
            </a:r>
          </a:p>
          <a:p>
            <a:endParaRPr lang="en-GB" sz="3200" dirty="0"/>
          </a:p>
          <a:p>
            <a:pPr lvl="2">
              <a:buFont typeface="Wingdings" panose="05000000000000000000" pitchFamily="2" charset="2"/>
              <a:buNone/>
            </a:pPr>
            <a:r>
              <a:rPr lang="en-GB" sz="3200" b="1" dirty="0"/>
              <a:t>User will only fix one or few values</a:t>
            </a:r>
          </a:p>
          <a:p>
            <a:pPr>
              <a:buFont typeface="Wingdings" panose="05000000000000000000" pitchFamily="2" charset="2"/>
              <a:buNone/>
            </a:pPr>
            <a:endParaRPr lang="en-GB" sz="3200" b="1" dirty="0"/>
          </a:p>
          <a:p>
            <a:pPr>
              <a:buFont typeface="Wingdings" panose="05000000000000000000" pitchFamily="2" charset="2"/>
              <a:buNone/>
            </a:pPr>
            <a:r>
              <a:rPr lang="en-GB" sz="3200" b="1" dirty="0"/>
              <a:t>Avoid the accidental deletion/reset by not even giving users the option.</a:t>
            </a:r>
            <a:r>
              <a:rPr lang="en-GB" sz="3200" dirty="0"/>
              <a:t> </a:t>
            </a:r>
            <a:endParaRPr lang="en-GB" sz="3200" b="1" dirty="0"/>
          </a:p>
          <a:p>
            <a:pPr lvl="1">
              <a:buFont typeface="Wingdings" panose="05000000000000000000" pitchFamily="2" charset="2"/>
              <a:buNone/>
            </a:pPr>
            <a:endParaRPr lang="en-GB" sz="3200" b="1"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827584" y="63280"/>
            <a:ext cx="7859216" cy="1499616"/>
          </a:xfrm>
        </p:spPr>
        <p:txBody>
          <a:bodyPr>
            <a:normAutofit/>
          </a:bodyPr>
          <a:lstStyle/>
          <a:p>
            <a:pPr algn="ctr"/>
            <a:r>
              <a:rPr lang="en-GB" sz="3600" dirty="0"/>
              <a:t>9. Have Clear and Explanatory Error &amp; Success Messages</a:t>
            </a:r>
          </a:p>
        </p:txBody>
      </p:sp>
      <p:sp>
        <p:nvSpPr>
          <p:cNvPr id="31747" name="Rectangle 3"/>
          <p:cNvSpPr>
            <a:spLocks noGrp="1" noChangeArrowheads="1"/>
          </p:cNvSpPr>
          <p:nvPr>
            <p:ph idx="1"/>
          </p:nvPr>
        </p:nvSpPr>
        <p:spPr>
          <a:xfrm>
            <a:off x="457200" y="1341438"/>
            <a:ext cx="8229600" cy="1727200"/>
          </a:xfrm>
        </p:spPr>
        <p:txBody>
          <a:bodyPr>
            <a:normAutofit/>
          </a:bodyPr>
          <a:lstStyle/>
          <a:p>
            <a:r>
              <a:rPr lang="en-GB" sz="2800" dirty="0"/>
              <a:t>Related to tip #7</a:t>
            </a:r>
          </a:p>
          <a:p>
            <a:r>
              <a:rPr lang="en-GB" sz="2800" dirty="0"/>
              <a:t>puts the user at peace and comfort with your web app</a:t>
            </a:r>
          </a:p>
          <a:p>
            <a:endParaRPr lang="en-GB" sz="2800" dirty="0"/>
          </a:p>
        </p:txBody>
      </p:sp>
      <p:sp>
        <p:nvSpPr>
          <p:cNvPr id="31749" name="Text Box 5"/>
          <p:cNvSpPr txBox="1">
            <a:spLocks noChangeArrowheads="1"/>
          </p:cNvSpPr>
          <p:nvPr/>
        </p:nvSpPr>
        <p:spPr bwMode="auto">
          <a:xfrm>
            <a:off x="2843213" y="2997200"/>
            <a:ext cx="5113337" cy="1333500"/>
          </a:xfrm>
          <a:prstGeom prst="rect">
            <a:avLst/>
          </a:prstGeom>
          <a:solidFill>
            <a:srgbClr val="CC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GB" b="1">
              <a:solidFill>
                <a:srgbClr val="FF0000"/>
              </a:solidFill>
            </a:endParaRPr>
          </a:p>
          <a:p>
            <a:r>
              <a:rPr lang="en-GB" b="1">
                <a:solidFill>
                  <a:srgbClr val="FF0000"/>
                </a:solidFill>
              </a:rPr>
              <a:t>“Oops, something went wrong”</a:t>
            </a:r>
            <a:r>
              <a:rPr lang="en-GB"/>
              <a:t> </a:t>
            </a:r>
          </a:p>
          <a:p>
            <a:endParaRPr lang="en-GB"/>
          </a:p>
        </p:txBody>
      </p:sp>
      <p:pic>
        <p:nvPicPr>
          <p:cNvPr id="31750" name="Picture 6" descr="cross"/>
          <p:cNvPicPr>
            <a:picLocks noChangeAspect="1" noChangeArrowheads="1"/>
          </p:cNvPicPr>
          <p:nvPr/>
        </p:nvPicPr>
        <p:blipFill>
          <a:blip r:embed="rId2">
            <a:lum bright="-6000"/>
            <a:extLst>
              <a:ext uri="{28A0092B-C50C-407E-A947-70E740481C1C}">
                <a14:useLocalDpi xmlns:a14="http://schemas.microsoft.com/office/drawing/2010/main" val="0"/>
              </a:ext>
            </a:extLst>
          </a:blip>
          <a:srcRect/>
          <a:stretch>
            <a:fillRect/>
          </a:stretch>
        </p:blipFill>
        <p:spPr bwMode="auto">
          <a:xfrm>
            <a:off x="2627784" y="3073400"/>
            <a:ext cx="1524000" cy="1181100"/>
          </a:xfrm>
          <a:prstGeom prst="rect">
            <a:avLst/>
          </a:prstGeom>
          <a:noFill/>
          <a:extLst>
            <a:ext uri="{909E8E84-426E-40DD-AFC4-6F175D3DCCD1}">
              <a14:hiddenFill xmlns:a14="http://schemas.microsoft.com/office/drawing/2010/main">
                <a:solidFill>
                  <a:srgbClr val="FFFFFF"/>
                </a:solidFill>
              </a14:hiddenFill>
            </a:ext>
          </a:extLst>
        </p:spPr>
      </p:pic>
      <p:sp>
        <p:nvSpPr>
          <p:cNvPr id="31751" name="Text Box 7"/>
          <p:cNvSpPr txBox="1">
            <a:spLocks noChangeArrowheads="1"/>
          </p:cNvSpPr>
          <p:nvPr/>
        </p:nvSpPr>
        <p:spPr bwMode="auto">
          <a:xfrm>
            <a:off x="1116013" y="4652963"/>
            <a:ext cx="7488237" cy="2063750"/>
          </a:xfrm>
          <a:prstGeom prst="rect">
            <a:avLst/>
          </a:prstGeom>
          <a:solidFill>
            <a:srgbClr val="CC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GB" b="1">
              <a:solidFill>
                <a:srgbClr val="FF0000"/>
              </a:solidFill>
            </a:endParaRPr>
          </a:p>
          <a:p>
            <a:r>
              <a:rPr lang="en-GB" b="1">
                <a:solidFill>
                  <a:srgbClr val="FF0000"/>
                </a:solidFill>
              </a:rPr>
              <a:t>“Our database which holds your account info is temporarily inaccessible and will be back shortly”</a:t>
            </a:r>
            <a:r>
              <a:rPr lang="en-GB"/>
              <a:t>  </a:t>
            </a:r>
          </a:p>
          <a:p>
            <a:endParaRPr lang="en-GB"/>
          </a:p>
        </p:txBody>
      </p:sp>
      <p:pic>
        <p:nvPicPr>
          <p:cNvPr id="31752" name="Picture 8" descr="tick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8520" y="5013176"/>
            <a:ext cx="1368425" cy="10255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1750"/>
                                        </p:tgtEl>
                                        <p:attrNameLst>
                                          <p:attrName>style.visibility</p:attrName>
                                        </p:attrNameLst>
                                      </p:cBhvr>
                                      <p:to>
                                        <p:strVal val="visible"/>
                                      </p:to>
                                    </p:set>
                                    <p:anim calcmode="lin" valueType="num">
                                      <p:cBhvr additive="base">
                                        <p:cTn id="7" dur="500" fill="hold"/>
                                        <p:tgtEl>
                                          <p:spTgt spid="31750"/>
                                        </p:tgtEl>
                                        <p:attrNameLst>
                                          <p:attrName>ppt_x</p:attrName>
                                        </p:attrNameLst>
                                      </p:cBhvr>
                                      <p:tavLst>
                                        <p:tav tm="0">
                                          <p:val>
                                            <p:strVal val="#ppt_x"/>
                                          </p:val>
                                        </p:tav>
                                        <p:tav tm="100000">
                                          <p:val>
                                            <p:strVal val="#ppt_x"/>
                                          </p:val>
                                        </p:tav>
                                      </p:tavLst>
                                    </p:anim>
                                    <p:anim calcmode="lin" valueType="num">
                                      <p:cBhvr additive="base">
                                        <p:cTn id="8" dur="500" fill="hold"/>
                                        <p:tgtEl>
                                          <p:spTgt spid="31750"/>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1752"/>
                                        </p:tgtEl>
                                        <p:attrNameLst>
                                          <p:attrName>style.visibility</p:attrName>
                                        </p:attrNameLst>
                                      </p:cBhvr>
                                      <p:to>
                                        <p:strVal val="visible"/>
                                      </p:to>
                                    </p:set>
                                    <p:anim calcmode="lin" valueType="num">
                                      <p:cBhvr additive="base">
                                        <p:cTn id="13" dur="500" fill="hold"/>
                                        <p:tgtEl>
                                          <p:spTgt spid="31752"/>
                                        </p:tgtEl>
                                        <p:attrNameLst>
                                          <p:attrName>ppt_x</p:attrName>
                                        </p:attrNameLst>
                                      </p:cBhvr>
                                      <p:tavLst>
                                        <p:tav tm="0">
                                          <p:val>
                                            <p:strVal val="#ppt_x"/>
                                          </p:val>
                                        </p:tav>
                                        <p:tav tm="100000">
                                          <p:val>
                                            <p:strVal val="#ppt_x"/>
                                          </p:val>
                                        </p:tav>
                                      </p:tavLst>
                                    </p:anim>
                                    <p:anim calcmode="lin" valueType="num">
                                      <p:cBhvr additive="base">
                                        <p:cTn id="14" dur="500" fill="hold"/>
                                        <p:tgtEl>
                                          <p:spTgt spid="317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2" name="Picture 4" descr="web-app-example-09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000" y="1524000"/>
            <a:ext cx="8128000" cy="3810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768096" y="585216"/>
            <a:ext cx="8196392" cy="1499616"/>
          </a:xfrm>
        </p:spPr>
        <p:txBody>
          <a:bodyPr>
            <a:normAutofit/>
          </a:bodyPr>
          <a:lstStyle/>
          <a:p>
            <a:pPr algn="ctr"/>
            <a:r>
              <a:rPr lang="en-GB" sz="3600" dirty="0"/>
              <a:t>10. Include a Clear Visual Hierarchy and Navigation (Breadcrumbs)</a:t>
            </a:r>
          </a:p>
        </p:txBody>
      </p:sp>
      <p:sp>
        <p:nvSpPr>
          <p:cNvPr id="33795" name="Rectangle 3"/>
          <p:cNvSpPr>
            <a:spLocks noGrp="1" noChangeArrowheads="1"/>
          </p:cNvSpPr>
          <p:nvPr>
            <p:ph idx="1"/>
          </p:nvPr>
        </p:nvSpPr>
        <p:spPr>
          <a:xfrm>
            <a:off x="539552" y="1988840"/>
            <a:ext cx="8229600" cy="4789487"/>
          </a:xfrm>
        </p:spPr>
        <p:txBody>
          <a:bodyPr>
            <a:normAutofit/>
          </a:bodyPr>
          <a:lstStyle/>
          <a:p>
            <a:pPr algn="just"/>
            <a:r>
              <a:rPr lang="en-GB" sz="2800" dirty="0"/>
              <a:t>make sure your layout and navigation is very clear</a:t>
            </a:r>
          </a:p>
          <a:p>
            <a:pPr algn="just"/>
            <a:r>
              <a:rPr lang="en-GB" sz="2800" dirty="0"/>
              <a:t>This gives the user a sense of where they are in your web app</a:t>
            </a:r>
          </a:p>
          <a:p>
            <a:pPr algn="just"/>
            <a:r>
              <a:rPr lang="en-GB" sz="2800" dirty="0"/>
              <a:t>Have clear ‘breadcrumbs’ at the top of the page which includes the visual hierarchy of where the user is navigation-wise </a:t>
            </a:r>
          </a:p>
          <a:p>
            <a:pPr algn="just">
              <a:buFont typeface="Wingdings" panose="05000000000000000000" pitchFamily="2" charset="2"/>
              <a:buNone/>
            </a:pPr>
            <a:r>
              <a:rPr lang="en-GB" sz="2800" dirty="0"/>
              <a:t>	</a:t>
            </a:r>
            <a:r>
              <a:rPr lang="en-GB" sz="2800" b="1" dirty="0"/>
              <a:t>“*Main menu* &gt; *sub-menu* &gt; *settings*”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20" name="Picture 4" descr="web-app-example-10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000" y="2260600"/>
            <a:ext cx="8128000" cy="2336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70164" y="4556729"/>
            <a:ext cx="5777345" cy="1097280"/>
          </a:xfrm>
        </p:spPr>
        <p:txBody>
          <a:bodyPr>
            <a:normAutofit fontScale="90000"/>
          </a:bodyPr>
          <a:lstStyle/>
          <a:p>
            <a:r>
              <a:rPr lang="en-US" dirty="0"/>
              <a:t>Methods to ensure Visibility of System Status in UI</a:t>
            </a:r>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6553047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4904" y="1490125"/>
            <a:ext cx="9518904" cy="440852"/>
          </a:xfrm>
        </p:spPr>
        <p:txBody>
          <a:bodyPr>
            <a:normAutofit fontScale="90000"/>
          </a:bodyPr>
          <a:lstStyle/>
          <a:p>
            <a:pPr algn="ctr"/>
            <a:r>
              <a:rPr lang="en-US" dirty="0"/>
              <a:t>4 Ways To Communicate the Visibility                                         of System Status in UI</a:t>
            </a:r>
          </a:p>
        </p:txBody>
      </p:sp>
      <p:sp>
        <p:nvSpPr>
          <p:cNvPr id="3" name="Content Placeholder 2"/>
          <p:cNvSpPr>
            <a:spLocks noGrp="1"/>
          </p:cNvSpPr>
          <p:nvPr>
            <p:ph idx="1"/>
          </p:nvPr>
        </p:nvSpPr>
        <p:spPr/>
        <p:txBody>
          <a:bodyPr/>
          <a:lstStyle/>
          <a:p>
            <a:pPr marL="385763" indent="-385763">
              <a:buFont typeface="+mj-lt"/>
              <a:buAutoNum type="arabicPeriod"/>
            </a:pPr>
            <a:r>
              <a:rPr lang="en-US" sz="2400" dirty="0"/>
              <a:t>Visual feedback that shows user location or progress:</a:t>
            </a:r>
          </a:p>
          <a:p>
            <a:pPr marL="385763" indent="-385763">
              <a:buFont typeface="+mj-lt"/>
              <a:buAutoNum type="arabicPeriod"/>
            </a:pPr>
            <a:r>
              <a:rPr lang="en-US" sz="2400" dirty="0"/>
              <a:t>Visual feedback that confirms user action</a:t>
            </a:r>
          </a:p>
          <a:p>
            <a:pPr marL="385763" indent="-385763">
              <a:buFont typeface="+mj-lt"/>
              <a:buAutoNum type="arabicPeriod"/>
            </a:pPr>
            <a:r>
              <a:rPr lang="en-US" sz="2400" dirty="0"/>
              <a:t>Visual feedback that shows system status</a:t>
            </a:r>
          </a:p>
          <a:p>
            <a:pPr marL="385763" indent="-385763">
              <a:buFont typeface="+mj-lt"/>
              <a:buAutoNum type="arabicPeriod"/>
            </a:pPr>
            <a:r>
              <a:rPr lang="en-US" sz="2400" dirty="0"/>
              <a:t>Triggered events</a:t>
            </a:r>
          </a:p>
          <a:p>
            <a:pPr marL="0" indent="0">
              <a:buNone/>
            </a:pPr>
            <a:endParaRPr lang="en-US" sz="2400" dirty="0"/>
          </a:p>
          <a:p>
            <a:r>
              <a:rPr lang="en-US" dirty="0"/>
              <a:t>https://uxplanet.org/4-ways-to-communicate-the-visibility-of-system-status-in-ui-14ff2351c8e8</a:t>
            </a:r>
          </a:p>
        </p:txBody>
      </p:sp>
    </p:spTree>
    <p:extLst>
      <p:ext uri="{BB962C8B-B14F-4D97-AF65-F5344CB8AC3E}">
        <p14:creationId xmlns:p14="http://schemas.microsoft.com/office/powerpoint/2010/main" val="5354717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8096" y="518187"/>
            <a:ext cx="7558486" cy="1124712"/>
          </a:xfrm>
        </p:spPr>
        <p:txBody>
          <a:bodyPr>
            <a:normAutofit/>
          </a:bodyPr>
          <a:lstStyle/>
          <a:p>
            <a:pPr marL="385763" indent="-385763" algn="ctr"/>
            <a:r>
              <a:rPr lang="en-US" sz="3000" dirty="0"/>
              <a:t>Visual feedback that shows user location or progress:</a:t>
            </a:r>
          </a:p>
        </p:txBody>
      </p:sp>
      <p:sp>
        <p:nvSpPr>
          <p:cNvPr id="4" name="Rectangle 3"/>
          <p:cNvSpPr/>
          <p:nvPr/>
        </p:nvSpPr>
        <p:spPr>
          <a:xfrm>
            <a:off x="683568" y="1412776"/>
            <a:ext cx="2584704" cy="4856714"/>
          </a:xfrm>
          <a:prstGeom prst="rect">
            <a:avLst/>
          </a:prstGeom>
        </p:spPr>
        <p:txBody>
          <a:bodyPr wrap="square">
            <a:spAutoFit/>
          </a:bodyPr>
          <a:lstStyle/>
          <a:p>
            <a:pPr algn="just"/>
            <a:r>
              <a:rPr lang="en-US" sz="1800" b="1" dirty="0">
                <a:solidFill>
                  <a:srgbClr val="292929"/>
                </a:solidFill>
                <a:latin typeface="sohne"/>
              </a:rPr>
              <a:t>Where I am</a:t>
            </a:r>
          </a:p>
          <a:p>
            <a:pPr algn="just"/>
            <a:r>
              <a:rPr lang="en-US" sz="1800" b="1" dirty="0">
                <a:solidFill>
                  <a:srgbClr val="292929"/>
                </a:solidFill>
                <a:latin typeface="charter"/>
              </a:rPr>
              <a:t>No one likes to be lost, but it happens both in real and digital worlds. Making users aware of where they are in the app is essential for creating good navigation experience. Both apps and websites should highlight the currently selected navigation option to help users understand their current location.</a:t>
            </a:r>
          </a:p>
        </p:txBody>
      </p:sp>
      <p:pic>
        <p:nvPicPr>
          <p:cNvPr id="5" name="Picture 4"/>
          <p:cNvPicPr>
            <a:picLocks noChangeAspect="1"/>
          </p:cNvPicPr>
          <p:nvPr/>
        </p:nvPicPr>
        <p:blipFill>
          <a:blip r:embed="rId2"/>
          <a:stretch>
            <a:fillRect/>
          </a:stretch>
        </p:blipFill>
        <p:spPr>
          <a:xfrm>
            <a:off x="3842254" y="2184580"/>
            <a:ext cx="4782200" cy="1083362"/>
          </a:xfrm>
          <a:prstGeom prst="rect">
            <a:avLst/>
          </a:prstGeom>
        </p:spPr>
      </p:pic>
      <p:pic>
        <p:nvPicPr>
          <p:cNvPr id="6" name="Picture 5"/>
          <p:cNvPicPr>
            <a:picLocks noChangeAspect="1"/>
          </p:cNvPicPr>
          <p:nvPr/>
        </p:nvPicPr>
        <p:blipFill>
          <a:blip r:embed="rId3"/>
          <a:stretch>
            <a:fillRect/>
          </a:stretch>
        </p:blipFill>
        <p:spPr>
          <a:xfrm>
            <a:off x="3842255" y="3267942"/>
            <a:ext cx="4782200" cy="997528"/>
          </a:xfrm>
          <a:prstGeom prst="rect">
            <a:avLst/>
          </a:prstGeom>
        </p:spPr>
      </p:pic>
      <p:pic>
        <p:nvPicPr>
          <p:cNvPr id="7" name="Picture 6"/>
          <p:cNvPicPr>
            <a:picLocks noChangeAspect="1"/>
          </p:cNvPicPr>
          <p:nvPr/>
        </p:nvPicPr>
        <p:blipFill>
          <a:blip r:embed="rId4"/>
          <a:stretch>
            <a:fillRect/>
          </a:stretch>
        </p:blipFill>
        <p:spPr>
          <a:xfrm>
            <a:off x="3842254" y="4240972"/>
            <a:ext cx="4782200" cy="949892"/>
          </a:xfrm>
          <a:prstGeom prst="rect">
            <a:avLst/>
          </a:prstGeom>
        </p:spPr>
      </p:pic>
      <p:pic>
        <p:nvPicPr>
          <p:cNvPr id="8" name="Picture 7"/>
          <p:cNvPicPr>
            <a:picLocks noChangeAspect="1"/>
          </p:cNvPicPr>
          <p:nvPr/>
        </p:nvPicPr>
        <p:blipFill>
          <a:blip r:embed="rId5"/>
          <a:stretch>
            <a:fillRect/>
          </a:stretch>
        </p:blipFill>
        <p:spPr>
          <a:xfrm>
            <a:off x="3842254" y="5190863"/>
            <a:ext cx="4751750" cy="868947"/>
          </a:xfrm>
          <a:prstGeom prst="rect">
            <a:avLst/>
          </a:prstGeom>
        </p:spPr>
      </p:pic>
      <p:sp>
        <p:nvSpPr>
          <p:cNvPr id="9" name="Title 1"/>
          <p:cNvSpPr txBox="1">
            <a:spLocks/>
          </p:cNvSpPr>
          <p:nvPr/>
        </p:nvSpPr>
        <p:spPr>
          <a:xfrm>
            <a:off x="107504" y="69303"/>
            <a:ext cx="7685390" cy="440852"/>
          </a:xfrm>
          <a:prstGeom prst="rect">
            <a:avLst/>
          </a:prstGeom>
        </p:spPr>
        <p:txBody>
          <a:bodyPr vert="horz" lIns="68580" tIns="34290" rIns="68580" bIns="34290" rtlCol="0" anchor="ctr">
            <a:normAutofit fontScale="97500"/>
          </a:bodyPr>
          <a:lst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a:lstStyle>
          <a:p>
            <a:r>
              <a:rPr lang="en-US" sz="1350" b="1" u="sng" dirty="0">
                <a:solidFill>
                  <a:srgbClr val="C00000"/>
                </a:solidFill>
              </a:rPr>
              <a:t>4 Ways To Communicate the Visibility of System Status in UI:POINT 1</a:t>
            </a:r>
          </a:p>
        </p:txBody>
      </p:sp>
    </p:spTree>
    <p:extLst>
      <p:ext uri="{BB962C8B-B14F-4D97-AF65-F5344CB8AC3E}">
        <p14:creationId xmlns:p14="http://schemas.microsoft.com/office/powerpoint/2010/main" val="4071366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8268400" cy="1499616"/>
          </a:xfrm>
        </p:spPr>
        <p:txBody>
          <a:bodyPr/>
          <a:lstStyle/>
          <a:p>
            <a:pPr marL="385763" indent="-385763" algn="ctr"/>
            <a:r>
              <a:rPr lang="en-US" sz="4050" dirty="0"/>
              <a:t>Visual feedback that confirms user action</a:t>
            </a:r>
          </a:p>
        </p:txBody>
      </p:sp>
      <p:sp>
        <p:nvSpPr>
          <p:cNvPr id="3" name="Content Placeholder 2"/>
          <p:cNvSpPr>
            <a:spLocks noGrp="1"/>
          </p:cNvSpPr>
          <p:nvPr>
            <p:ph idx="1"/>
          </p:nvPr>
        </p:nvSpPr>
        <p:spPr>
          <a:xfrm>
            <a:off x="601843" y="2571749"/>
            <a:ext cx="3478322" cy="3017520"/>
          </a:xfrm>
        </p:spPr>
        <p:txBody>
          <a:bodyPr>
            <a:noAutofit/>
          </a:bodyPr>
          <a:lstStyle/>
          <a:p>
            <a:pPr algn="just"/>
            <a:r>
              <a:rPr lang="en-US" sz="1800" dirty="0"/>
              <a:t>It’s vital to providing immediate feedback for all interactive events. Immediate visual feedback will acknowledge that the app has received a user’s action, reinforce the sense of direct manipulation, and prevent a user from making errors (such as tapping the same button twice).</a:t>
            </a:r>
          </a:p>
          <a:p>
            <a:pPr algn="just"/>
            <a:r>
              <a:rPr lang="en-US" sz="1800" dirty="0"/>
              <a:t>In its basic form, it’s vital to show that the system actually caught the tap/click.</a:t>
            </a:r>
          </a:p>
        </p:txBody>
      </p:sp>
      <p:pic>
        <p:nvPicPr>
          <p:cNvPr id="4" name="Picture 3"/>
          <p:cNvPicPr>
            <a:picLocks noChangeAspect="1"/>
          </p:cNvPicPr>
          <p:nvPr/>
        </p:nvPicPr>
        <p:blipFill>
          <a:blip r:embed="rId2"/>
          <a:stretch>
            <a:fillRect/>
          </a:stretch>
        </p:blipFill>
        <p:spPr>
          <a:xfrm>
            <a:off x="6518422" y="2165972"/>
            <a:ext cx="2357147" cy="1801623"/>
          </a:xfrm>
          <a:prstGeom prst="rect">
            <a:avLst/>
          </a:prstGeom>
        </p:spPr>
      </p:pic>
      <p:pic>
        <p:nvPicPr>
          <p:cNvPr id="5" name="Picture 4"/>
          <p:cNvPicPr>
            <a:picLocks noChangeAspect="1"/>
          </p:cNvPicPr>
          <p:nvPr/>
        </p:nvPicPr>
        <p:blipFill>
          <a:blip r:embed="rId3"/>
          <a:stretch>
            <a:fillRect/>
          </a:stretch>
        </p:blipFill>
        <p:spPr>
          <a:xfrm>
            <a:off x="4243899" y="3967595"/>
            <a:ext cx="2274522" cy="1621674"/>
          </a:xfrm>
          <a:prstGeom prst="rect">
            <a:avLst/>
          </a:prstGeom>
        </p:spPr>
      </p:pic>
      <p:sp>
        <p:nvSpPr>
          <p:cNvPr id="7" name="Left-Up Arrow 6"/>
          <p:cNvSpPr/>
          <p:nvPr/>
        </p:nvSpPr>
        <p:spPr>
          <a:xfrm>
            <a:off x="6518422" y="3870614"/>
            <a:ext cx="852197" cy="609600"/>
          </a:xfrm>
          <a:prstGeom prst="lef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p:cNvSpPr/>
          <p:nvPr/>
        </p:nvSpPr>
        <p:spPr>
          <a:xfrm>
            <a:off x="-324545" y="18592"/>
            <a:ext cx="9200113" cy="369332"/>
          </a:xfrm>
          <a:prstGeom prst="rect">
            <a:avLst/>
          </a:prstGeom>
        </p:spPr>
        <p:txBody>
          <a:bodyPr wrap="square">
            <a:spAutoFit/>
          </a:bodyPr>
          <a:lstStyle/>
          <a:p>
            <a:r>
              <a:rPr lang="en-US" sz="1800" b="1" u="sng" dirty="0">
                <a:solidFill>
                  <a:srgbClr val="C00000"/>
                </a:solidFill>
              </a:rPr>
              <a:t>4 Ways To Communicate the Visibility of System Status in UI:POINT 2</a:t>
            </a:r>
          </a:p>
        </p:txBody>
      </p:sp>
    </p:spTree>
    <p:extLst>
      <p:ext uri="{BB962C8B-B14F-4D97-AF65-F5344CB8AC3E}">
        <p14:creationId xmlns:p14="http://schemas.microsoft.com/office/powerpoint/2010/main" val="27336436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7314" y="3865753"/>
            <a:ext cx="8168086" cy="579395"/>
          </a:xfrm>
        </p:spPr>
        <p:txBody>
          <a:bodyPr>
            <a:noAutofit/>
          </a:bodyPr>
          <a:lstStyle/>
          <a:p>
            <a:pPr algn="ctr"/>
            <a:r>
              <a:rPr lang="en-US" sz="2100" dirty="0">
                <a:solidFill>
                  <a:schemeClr val="tx1"/>
                </a:solidFill>
              </a:rPr>
              <a:t>EXAMPLE 2:Turning something ON/OFF. The change in the color of the button gives users a signal about the current state of the object.</a:t>
            </a:r>
          </a:p>
        </p:txBody>
      </p:sp>
      <p:pic>
        <p:nvPicPr>
          <p:cNvPr id="4" name="Content Placeholder 3"/>
          <p:cNvPicPr>
            <a:picLocks noGrp="1" noChangeAspect="1"/>
          </p:cNvPicPr>
          <p:nvPr>
            <p:ph idx="1"/>
          </p:nvPr>
        </p:nvPicPr>
        <p:blipFill>
          <a:blip r:embed="rId2"/>
          <a:stretch>
            <a:fillRect/>
          </a:stretch>
        </p:blipFill>
        <p:spPr>
          <a:xfrm>
            <a:off x="815851" y="1553089"/>
            <a:ext cx="1970863" cy="1700870"/>
          </a:xfrm>
          <a:prstGeom prst="rect">
            <a:avLst/>
          </a:prstGeom>
        </p:spPr>
      </p:pic>
      <p:pic>
        <p:nvPicPr>
          <p:cNvPr id="5" name="Picture 4"/>
          <p:cNvPicPr>
            <a:picLocks noChangeAspect="1"/>
          </p:cNvPicPr>
          <p:nvPr/>
        </p:nvPicPr>
        <p:blipFill>
          <a:blip r:embed="rId3"/>
          <a:stretch>
            <a:fillRect/>
          </a:stretch>
        </p:blipFill>
        <p:spPr>
          <a:xfrm>
            <a:off x="6340077" y="1568907"/>
            <a:ext cx="1849799" cy="1717964"/>
          </a:xfrm>
          <a:prstGeom prst="rect">
            <a:avLst/>
          </a:prstGeom>
        </p:spPr>
      </p:pic>
      <p:pic>
        <p:nvPicPr>
          <p:cNvPr id="6" name="Picture 5"/>
          <p:cNvPicPr>
            <a:picLocks noChangeAspect="1"/>
          </p:cNvPicPr>
          <p:nvPr/>
        </p:nvPicPr>
        <p:blipFill>
          <a:blip r:embed="rId4"/>
          <a:stretch>
            <a:fillRect/>
          </a:stretch>
        </p:blipFill>
        <p:spPr>
          <a:xfrm>
            <a:off x="815851" y="4811200"/>
            <a:ext cx="2400300" cy="1259472"/>
          </a:xfrm>
          <a:prstGeom prst="rect">
            <a:avLst/>
          </a:prstGeom>
        </p:spPr>
      </p:pic>
      <p:pic>
        <p:nvPicPr>
          <p:cNvPr id="7" name="Picture 6"/>
          <p:cNvPicPr>
            <a:picLocks noChangeAspect="1"/>
          </p:cNvPicPr>
          <p:nvPr/>
        </p:nvPicPr>
        <p:blipFill>
          <a:blip r:embed="rId5"/>
          <a:stretch>
            <a:fillRect/>
          </a:stretch>
        </p:blipFill>
        <p:spPr>
          <a:xfrm>
            <a:off x="5995959" y="4725144"/>
            <a:ext cx="2350294" cy="1335239"/>
          </a:xfrm>
          <a:prstGeom prst="rect">
            <a:avLst/>
          </a:prstGeom>
        </p:spPr>
      </p:pic>
      <p:sp>
        <p:nvSpPr>
          <p:cNvPr id="8" name="Title 1"/>
          <p:cNvSpPr txBox="1">
            <a:spLocks/>
          </p:cNvSpPr>
          <p:nvPr/>
        </p:nvSpPr>
        <p:spPr>
          <a:xfrm>
            <a:off x="747314" y="905538"/>
            <a:ext cx="8168086" cy="579395"/>
          </a:xfrm>
          <a:prstGeom prst="rect">
            <a:avLst/>
          </a:prstGeom>
        </p:spPr>
        <p:txBody>
          <a:bodyPr vert="horz" lIns="68580" tIns="34290" rIns="68580" bIns="34290" rtlCol="0" anchor="ctr">
            <a:noAutofit/>
          </a:bodyPr>
          <a:lst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a:lstStyle>
          <a:p>
            <a:pPr algn="ctr"/>
            <a:r>
              <a:rPr lang="en-US" sz="2100" b="1" dirty="0">
                <a:solidFill>
                  <a:schemeClr val="tx1"/>
                </a:solidFill>
              </a:rPr>
              <a:t>EXAMPLE 1:Clicking on the Like button.</a:t>
            </a:r>
          </a:p>
          <a:p>
            <a:endParaRPr lang="en-US" sz="2100" dirty="0"/>
          </a:p>
        </p:txBody>
      </p:sp>
      <p:sp>
        <p:nvSpPr>
          <p:cNvPr id="9" name="Rectangle 8"/>
          <p:cNvSpPr/>
          <p:nvPr/>
        </p:nvSpPr>
        <p:spPr>
          <a:xfrm>
            <a:off x="-180528" y="97165"/>
            <a:ext cx="8531390" cy="369332"/>
          </a:xfrm>
          <a:prstGeom prst="rect">
            <a:avLst/>
          </a:prstGeom>
        </p:spPr>
        <p:txBody>
          <a:bodyPr wrap="square">
            <a:spAutoFit/>
          </a:bodyPr>
          <a:lstStyle/>
          <a:p>
            <a:r>
              <a:rPr lang="en-US" sz="1800" b="1" u="sng" dirty="0">
                <a:solidFill>
                  <a:srgbClr val="C00000"/>
                </a:solidFill>
              </a:rPr>
              <a:t>4 Ways To Communicate the Visibility of System Status in UI:POINT 2</a:t>
            </a:r>
          </a:p>
        </p:txBody>
      </p:sp>
    </p:spTree>
    <p:extLst>
      <p:ext uri="{BB962C8B-B14F-4D97-AF65-F5344CB8AC3E}">
        <p14:creationId xmlns:p14="http://schemas.microsoft.com/office/powerpoint/2010/main" val="13616610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8096" y="1296162"/>
            <a:ext cx="7290054" cy="482415"/>
          </a:xfrm>
        </p:spPr>
        <p:txBody>
          <a:bodyPr>
            <a:normAutofit fontScale="90000"/>
          </a:bodyPr>
          <a:lstStyle/>
          <a:p>
            <a:pPr algn="ctr"/>
            <a:r>
              <a:rPr lang="en-US" dirty="0"/>
              <a:t>3.Visual feedback that shows system status</a:t>
            </a:r>
          </a:p>
        </p:txBody>
      </p:sp>
      <p:pic>
        <p:nvPicPr>
          <p:cNvPr id="4" name="Content Placeholder 3"/>
          <p:cNvPicPr>
            <a:picLocks noGrp="1" noChangeAspect="1"/>
          </p:cNvPicPr>
          <p:nvPr>
            <p:ph idx="1"/>
          </p:nvPr>
        </p:nvPicPr>
        <p:blipFill>
          <a:blip r:embed="rId2"/>
          <a:stretch>
            <a:fillRect/>
          </a:stretch>
        </p:blipFill>
        <p:spPr>
          <a:xfrm>
            <a:off x="718370" y="3437851"/>
            <a:ext cx="3671888" cy="2686050"/>
          </a:xfrm>
          <a:prstGeom prst="rect">
            <a:avLst/>
          </a:prstGeom>
        </p:spPr>
      </p:pic>
      <p:pic>
        <p:nvPicPr>
          <p:cNvPr id="6" name="Picture 5"/>
          <p:cNvPicPr>
            <a:picLocks noChangeAspect="1"/>
          </p:cNvPicPr>
          <p:nvPr/>
        </p:nvPicPr>
        <p:blipFill>
          <a:blip r:embed="rId3"/>
          <a:stretch>
            <a:fillRect/>
          </a:stretch>
        </p:blipFill>
        <p:spPr>
          <a:xfrm>
            <a:off x="4860032" y="3437851"/>
            <a:ext cx="3314700" cy="2686050"/>
          </a:xfrm>
          <a:prstGeom prst="rect">
            <a:avLst/>
          </a:prstGeom>
        </p:spPr>
      </p:pic>
      <p:sp>
        <p:nvSpPr>
          <p:cNvPr id="7" name="Rectangle 6"/>
          <p:cNvSpPr/>
          <p:nvPr/>
        </p:nvSpPr>
        <p:spPr>
          <a:xfrm>
            <a:off x="395536" y="2059561"/>
            <a:ext cx="8424936" cy="978729"/>
          </a:xfrm>
          <a:prstGeom prst="rect">
            <a:avLst/>
          </a:prstGeom>
        </p:spPr>
        <p:txBody>
          <a:bodyPr wrap="square">
            <a:spAutoFit/>
          </a:bodyPr>
          <a:lstStyle/>
          <a:p>
            <a:pPr algn="ctr"/>
            <a:r>
              <a:rPr lang="en-US" sz="1800" b="1" dirty="0">
                <a:solidFill>
                  <a:srgbClr val="292929"/>
                </a:solidFill>
                <a:latin typeface="Segoe Print" panose="02000600000000000000" pitchFamily="2" charset="0"/>
              </a:rPr>
              <a:t>Show the system is busy doing something by using progress bars</a:t>
            </a:r>
          </a:p>
          <a:p>
            <a:pPr algn="ctr"/>
            <a:r>
              <a:rPr lang="en-US" sz="1800" b="1" dirty="0">
                <a:latin typeface="Segoe Print" panose="02000600000000000000" pitchFamily="2" charset="0"/>
              </a:rPr>
              <a:t>These indicators communicate that the system is working and reduce the level of uncertainty.</a:t>
            </a:r>
            <a:endParaRPr lang="en-US" sz="1800" b="1" dirty="0">
              <a:solidFill>
                <a:srgbClr val="292929"/>
              </a:solidFill>
              <a:latin typeface="Segoe Print" panose="02000600000000000000" pitchFamily="2" charset="0"/>
            </a:endParaRPr>
          </a:p>
        </p:txBody>
      </p:sp>
      <p:sp>
        <p:nvSpPr>
          <p:cNvPr id="8" name="Rectangle 7"/>
          <p:cNvSpPr/>
          <p:nvPr/>
        </p:nvSpPr>
        <p:spPr>
          <a:xfrm>
            <a:off x="-468560" y="43241"/>
            <a:ext cx="8856984" cy="369332"/>
          </a:xfrm>
          <a:prstGeom prst="rect">
            <a:avLst/>
          </a:prstGeom>
        </p:spPr>
        <p:txBody>
          <a:bodyPr wrap="square">
            <a:spAutoFit/>
          </a:bodyPr>
          <a:lstStyle/>
          <a:p>
            <a:r>
              <a:rPr lang="en-US" sz="1800" b="1" u="sng" dirty="0">
                <a:solidFill>
                  <a:srgbClr val="C00000"/>
                </a:solidFill>
              </a:rPr>
              <a:t>4 Ways To Communicate the Visibility of System Status in UI:POINT 3</a:t>
            </a:r>
          </a:p>
        </p:txBody>
      </p:sp>
    </p:spTree>
    <p:extLst>
      <p:ext uri="{BB962C8B-B14F-4D97-AF65-F5344CB8AC3E}">
        <p14:creationId xmlns:p14="http://schemas.microsoft.com/office/powerpoint/2010/main" val="28682080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713051"/>
            <a:ext cx="8189725" cy="630590"/>
          </a:xfrm>
        </p:spPr>
        <p:txBody>
          <a:bodyPr/>
          <a:lstStyle/>
          <a:p>
            <a:pPr algn="ctr"/>
            <a:r>
              <a:rPr lang="en-US" dirty="0"/>
              <a:t>4.TRIGGERED EVENTS</a:t>
            </a:r>
          </a:p>
        </p:txBody>
      </p:sp>
      <p:sp>
        <p:nvSpPr>
          <p:cNvPr id="3" name="Content Placeholder 2"/>
          <p:cNvSpPr>
            <a:spLocks noGrp="1"/>
          </p:cNvSpPr>
          <p:nvPr>
            <p:ph idx="1"/>
          </p:nvPr>
        </p:nvSpPr>
        <p:spPr>
          <a:xfrm>
            <a:off x="506503" y="2133404"/>
            <a:ext cx="8748263" cy="3017520"/>
          </a:xfrm>
        </p:spPr>
        <p:txBody>
          <a:bodyPr>
            <a:normAutofit/>
          </a:bodyPr>
          <a:lstStyle/>
          <a:p>
            <a:r>
              <a:rPr lang="en-US" sz="2100" b="1" dirty="0"/>
              <a:t>Example 1:Notifications/Indicators</a:t>
            </a:r>
          </a:p>
          <a:p>
            <a:r>
              <a:rPr lang="en-US" sz="2100" dirty="0"/>
              <a:t>The purpose of effective notification is to direct user attention to the fact of a new event. </a:t>
            </a:r>
            <a:r>
              <a:rPr lang="en-US" sz="2100" b="1" dirty="0"/>
              <a:t>It’s recommended to use subtle animations for notifications because animated effects naturally capture user attention</a:t>
            </a:r>
            <a:r>
              <a:rPr lang="en-US" sz="2100" dirty="0"/>
              <a:t> — the human eye is hardwired to focus on moving objects.</a:t>
            </a:r>
          </a:p>
        </p:txBody>
      </p:sp>
      <p:pic>
        <p:nvPicPr>
          <p:cNvPr id="4" name="Picture 3"/>
          <p:cNvPicPr>
            <a:picLocks noChangeAspect="1"/>
          </p:cNvPicPr>
          <p:nvPr/>
        </p:nvPicPr>
        <p:blipFill>
          <a:blip r:embed="rId2"/>
          <a:stretch>
            <a:fillRect/>
          </a:stretch>
        </p:blipFill>
        <p:spPr>
          <a:xfrm>
            <a:off x="5580112" y="4509120"/>
            <a:ext cx="1134449" cy="969749"/>
          </a:xfrm>
          <a:prstGeom prst="rect">
            <a:avLst/>
          </a:prstGeom>
        </p:spPr>
      </p:pic>
      <p:pic>
        <p:nvPicPr>
          <p:cNvPr id="5" name="Picture 4"/>
          <p:cNvPicPr>
            <a:picLocks noChangeAspect="1"/>
          </p:cNvPicPr>
          <p:nvPr/>
        </p:nvPicPr>
        <p:blipFill>
          <a:blip r:embed="rId3"/>
          <a:stretch>
            <a:fillRect/>
          </a:stretch>
        </p:blipFill>
        <p:spPr>
          <a:xfrm>
            <a:off x="7432611" y="4457653"/>
            <a:ext cx="1134882" cy="969749"/>
          </a:xfrm>
          <a:prstGeom prst="rect">
            <a:avLst/>
          </a:prstGeom>
        </p:spPr>
      </p:pic>
      <p:sp>
        <p:nvSpPr>
          <p:cNvPr id="9" name="Rectangle 8"/>
          <p:cNvSpPr/>
          <p:nvPr/>
        </p:nvSpPr>
        <p:spPr>
          <a:xfrm>
            <a:off x="-468560" y="2704"/>
            <a:ext cx="8676456" cy="369332"/>
          </a:xfrm>
          <a:prstGeom prst="rect">
            <a:avLst/>
          </a:prstGeom>
        </p:spPr>
        <p:txBody>
          <a:bodyPr wrap="square">
            <a:spAutoFit/>
          </a:bodyPr>
          <a:lstStyle/>
          <a:p>
            <a:r>
              <a:rPr lang="en-US" sz="1800" b="1" u="sng" dirty="0">
                <a:solidFill>
                  <a:srgbClr val="C00000"/>
                </a:solidFill>
              </a:rPr>
              <a:t>4 Ways To Communicate the Visibility of System Status in UI:POINT 4</a:t>
            </a:r>
          </a:p>
        </p:txBody>
      </p:sp>
    </p:spTree>
    <p:extLst>
      <p:ext uri="{BB962C8B-B14F-4D97-AF65-F5344CB8AC3E}">
        <p14:creationId xmlns:p14="http://schemas.microsoft.com/office/powerpoint/2010/main" val="11098318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5771" y="795153"/>
            <a:ext cx="8189725" cy="630590"/>
          </a:xfrm>
        </p:spPr>
        <p:txBody>
          <a:bodyPr/>
          <a:lstStyle/>
          <a:p>
            <a:pPr algn="ctr"/>
            <a:r>
              <a:rPr lang="en-US" dirty="0"/>
              <a:t>4.TRIGGERED EVENTS</a:t>
            </a:r>
          </a:p>
        </p:txBody>
      </p:sp>
      <p:sp>
        <p:nvSpPr>
          <p:cNvPr id="3" name="Content Placeholder 2"/>
          <p:cNvSpPr>
            <a:spLocks noGrp="1"/>
          </p:cNvSpPr>
          <p:nvPr>
            <p:ph idx="1"/>
          </p:nvPr>
        </p:nvSpPr>
        <p:spPr>
          <a:xfrm>
            <a:off x="611560" y="1585696"/>
            <a:ext cx="8748263" cy="3017520"/>
          </a:xfrm>
        </p:spPr>
        <p:txBody>
          <a:bodyPr>
            <a:normAutofit/>
          </a:bodyPr>
          <a:lstStyle/>
          <a:p>
            <a:r>
              <a:rPr lang="en-US" b="1" dirty="0"/>
              <a:t>Example 2: Request for user actions</a:t>
            </a:r>
          </a:p>
          <a:p>
            <a:r>
              <a:rPr lang="en-US" dirty="0"/>
              <a:t>There are a lot of cases when a system might request data for user action. For example, when users fill out a form with invalid data. For example, a user creates a password and it’s not good in terms of complexity, provides an invalid email address, etc. It’s always better to tell users about the problem upfront, using appropriate visual feedback.</a:t>
            </a:r>
          </a:p>
          <a:p>
            <a:endParaRPr lang="en-US" sz="2100" b="1" dirty="0"/>
          </a:p>
        </p:txBody>
      </p:sp>
      <p:pic>
        <p:nvPicPr>
          <p:cNvPr id="6" name="Picture 5"/>
          <p:cNvPicPr>
            <a:picLocks noChangeAspect="1"/>
          </p:cNvPicPr>
          <p:nvPr/>
        </p:nvPicPr>
        <p:blipFill>
          <a:blip r:embed="rId2"/>
          <a:stretch>
            <a:fillRect/>
          </a:stretch>
        </p:blipFill>
        <p:spPr>
          <a:xfrm>
            <a:off x="3999418" y="3701588"/>
            <a:ext cx="5144582" cy="901628"/>
          </a:xfrm>
          <a:prstGeom prst="rect">
            <a:avLst/>
          </a:prstGeom>
        </p:spPr>
      </p:pic>
      <p:pic>
        <p:nvPicPr>
          <p:cNvPr id="7" name="Picture 6"/>
          <p:cNvPicPr>
            <a:picLocks noChangeAspect="1"/>
          </p:cNvPicPr>
          <p:nvPr/>
        </p:nvPicPr>
        <p:blipFill>
          <a:blip r:embed="rId3"/>
          <a:stretch>
            <a:fillRect/>
          </a:stretch>
        </p:blipFill>
        <p:spPr>
          <a:xfrm>
            <a:off x="4099322" y="4603216"/>
            <a:ext cx="4944774" cy="695177"/>
          </a:xfrm>
          <a:prstGeom prst="rect">
            <a:avLst/>
          </a:prstGeom>
        </p:spPr>
      </p:pic>
      <p:pic>
        <p:nvPicPr>
          <p:cNvPr id="8" name="Picture 7"/>
          <p:cNvPicPr>
            <a:picLocks noChangeAspect="1"/>
          </p:cNvPicPr>
          <p:nvPr/>
        </p:nvPicPr>
        <p:blipFill>
          <a:blip r:embed="rId4"/>
          <a:stretch>
            <a:fillRect/>
          </a:stretch>
        </p:blipFill>
        <p:spPr>
          <a:xfrm>
            <a:off x="4099322" y="5376928"/>
            <a:ext cx="4944774" cy="623822"/>
          </a:xfrm>
          <a:prstGeom prst="rect">
            <a:avLst/>
          </a:prstGeom>
        </p:spPr>
      </p:pic>
      <p:sp>
        <p:nvSpPr>
          <p:cNvPr id="9" name="Rectangle 8"/>
          <p:cNvSpPr/>
          <p:nvPr/>
        </p:nvSpPr>
        <p:spPr>
          <a:xfrm>
            <a:off x="0" y="142739"/>
            <a:ext cx="8460432" cy="369332"/>
          </a:xfrm>
          <a:prstGeom prst="rect">
            <a:avLst/>
          </a:prstGeom>
        </p:spPr>
        <p:txBody>
          <a:bodyPr wrap="square">
            <a:spAutoFit/>
          </a:bodyPr>
          <a:lstStyle/>
          <a:p>
            <a:r>
              <a:rPr lang="en-US" sz="1800" b="1" u="sng" dirty="0">
                <a:solidFill>
                  <a:srgbClr val="C00000"/>
                </a:solidFill>
              </a:rPr>
              <a:t>4 Ways To Communicate the Visibility of System Status in UI:POINT 4</a:t>
            </a:r>
          </a:p>
        </p:txBody>
      </p:sp>
    </p:spTree>
    <p:extLst>
      <p:ext uri="{BB962C8B-B14F-4D97-AF65-F5344CB8AC3E}">
        <p14:creationId xmlns:p14="http://schemas.microsoft.com/office/powerpoint/2010/main" val="10870194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7343" y="476672"/>
            <a:ext cx="8590649" cy="475488"/>
          </a:xfrm>
        </p:spPr>
        <p:txBody>
          <a:bodyPr>
            <a:normAutofit fontScale="90000"/>
          </a:bodyPr>
          <a:lstStyle/>
          <a:p>
            <a:pPr algn="ctr"/>
            <a:r>
              <a:rPr lang="en-US" b="1" dirty="0"/>
              <a:t>Uber for Seniors and Poor Visibility</a:t>
            </a:r>
          </a:p>
        </p:txBody>
      </p:sp>
      <p:pic>
        <p:nvPicPr>
          <p:cNvPr id="4" name="Content Placeholder 3"/>
          <p:cNvPicPr>
            <a:picLocks noGrp="1" noChangeAspect="1"/>
          </p:cNvPicPr>
          <p:nvPr>
            <p:ph idx="1"/>
          </p:nvPr>
        </p:nvPicPr>
        <p:blipFill>
          <a:blip r:embed="rId2"/>
          <a:stretch>
            <a:fillRect/>
          </a:stretch>
        </p:blipFill>
        <p:spPr>
          <a:xfrm>
            <a:off x="1992041" y="1823416"/>
            <a:ext cx="5881255" cy="3446507"/>
          </a:xfrm>
          <a:prstGeom prst="rect">
            <a:avLst/>
          </a:prstGeom>
        </p:spPr>
      </p:pic>
      <p:sp>
        <p:nvSpPr>
          <p:cNvPr id="5" name="Rectangle 4"/>
          <p:cNvSpPr/>
          <p:nvPr/>
        </p:nvSpPr>
        <p:spPr>
          <a:xfrm>
            <a:off x="2230581" y="5528045"/>
            <a:ext cx="6414655" cy="646331"/>
          </a:xfrm>
          <a:prstGeom prst="rect">
            <a:avLst/>
          </a:prstGeom>
        </p:spPr>
        <p:txBody>
          <a:bodyPr wrap="square">
            <a:spAutoFit/>
          </a:bodyPr>
          <a:lstStyle/>
          <a:p>
            <a:r>
              <a:rPr lang="en-US" sz="1800" dirty="0"/>
              <a:t>https://blog.prototypr.io/uber-for-seniors-and-poor-visibility-dbaadca12a2a</a:t>
            </a:r>
          </a:p>
        </p:txBody>
      </p:sp>
    </p:spTree>
    <p:extLst>
      <p:ext uri="{BB962C8B-B14F-4D97-AF65-F5344CB8AC3E}">
        <p14:creationId xmlns:p14="http://schemas.microsoft.com/office/powerpoint/2010/main" val="12666130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ISSUES WITH THE UBER INTERFACE</a:t>
            </a:r>
          </a:p>
        </p:txBody>
      </p:sp>
      <p:sp>
        <p:nvSpPr>
          <p:cNvPr id="3" name="Content Placeholder 2"/>
          <p:cNvSpPr>
            <a:spLocks noGrp="1"/>
          </p:cNvSpPr>
          <p:nvPr>
            <p:ph idx="1"/>
          </p:nvPr>
        </p:nvSpPr>
        <p:spPr>
          <a:xfrm>
            <a:off x="768096" y="1844824"/>
            <a:ext cx="8098813" cy="4248472"/>
          </a:xfrm>
        </p:spPr>
        <p:txBody>
          <a:bodyPr>
            <a:normAutofit fontScale="85000" lnSpcReduction="10000"/>
          </a:bodyPr>
          <a:lstStyle/>
          <a:p>
            <a:pPr marL="0" indent="0" algn="just">
              <a:buNone/>
            </a:pPr>
            <a:r>
              <a:rPr lang="en-US" dirty="0"/>
              <a:t> </a:t>
            </a:r>
            <a:r>
              <a:rPr lang="en-US" sz="3000" dirty="0"/>
              <a:t>As there are hundreds-of-thousands of people with poor vision, limited finger dexterity, or even just new users with a limited understanding of Uber’s complex business?</a:t>
            </a:r>
          </a:p>
          <a:p>
            <a:pPr marL="0" indent="0" algn="just">
              <a:buNone/>
            </a:pPr>
            <a:r>
              <a:rPr lang="en-US" sz="3000" dirty="0"/>
              <a:t>ISSUES:</a:t>
            </a:r>
          </a:p>
          <a:p>
            <a:pPr>
              <a:buFont typeface="Wingdings" panose="05000000000000000000" pitchFamily="2" charset="2"/>
              <a:buChar char="v"/>
            </a:pPr>
            <a:r>
              <a:rPr lang="en-US" sz="3000" dirty="0"/>
              <a:t>Not respecting link color/convention</a:t>
            </a:r>
          </a:p>
          <a:p>
            <a:pPr>
              <a:buFont typeface="Wingdings" panose="05000000000000000000" pitchFamily="2" charset="2"/>
              <a:buChar char="v"/>
            </a:pPr>
            <a:r>
              <a:rPr lang="en-US" sz="3000" dirty="0"/>
              <a:t>Ambiguous buttons</a:t>
            </a:r>
          </a:p>
          <a:p>
            <a:pPr>
              <a:buFont typeface="Wingdings" panose="05000000000000000000" pitchFamily="2" charset="2"/>
              <a:buChar char="v"/>
            </a:pPr>
            <a:r>
              <a:rPr lang="en-US" sz="3000" dirty="0"/>
              <a:t>Extremely small font sizes</a:t>
            </a:r>
          </a:p>
          <a:p>
            <a:pPr>
              <a:buFont typeface="Wingdings" panose="05000000000000000000" pitchFamily="2" charset="2"/>
              <a:buChar char="v"/>
            </a:pPr>
            <a:r>
              <a:rPr lang="en-US" sz="3000" dirty="0"/>
              <a:t>Overly dynamic interfaces (e.g. Destination input field)</a:t>
            </a:r>
          </a:p>
          <a:p>
            <a:pPr>
              <a:buFont typeface="Wingdings" panose="05000000000000000000" pitchFamily="2" charset="2"/>
              <a:buChar char="v"/>
            </a:pPr>
            <a:r>
              <a:rPr lang="en-US" sz="3000" dirty="0"/>
              <a:t>Poor labelling</a:t>
            </a:r>
          </a:p>
        </p:txBody>
      </p:sp>
    </p:spTree>
    <p:extLst>
      <p:ext uri="{BB962C8B-B14F-4D97-AF65-F5344CB8AC3E}">
        <p14:creationId xmlns:p14="http://schemas.microsoft.com/office/powerpoint/2010/main" val="2439166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7624" y="476672"/>
            <a:ext cx="7290054" cy="302306"/>
          </a:xfrm>
        </p:spPr>
        <p:txBody>
          <a:bodyPr>
            <a:normAutofit fontScale="90000"/>
          </a:bodyPr>
          <a:lstStyle/>
          <a:p>
            <a:pPr algn="ctr"/>
            <a:r>
              <a:rPr lang="en-US" u="sng" dirty="0"/>
              <a:t>UBER INTERFACE ISSUES DISCUSSION</a:t>
            </a:r>
          </a:p>
        </p:txBody>
      </p:sp>
      <p:sp>
        <p:nvSpPr>
          <p:cNvPr id="3" name="Content Placeholder 2"/>
          <p:cNvSpPr>
            <a:spLocks noGrp="1"/>
          </p:cNvSpPr>
          <p:nvPr>
            <p:ph idx="1"/>
          </p:nvPr>
        </p:nvSpPr>
        <p:spPr>
          <a:xfrm>
            <a:off x="671114" y="1685059"/>
            <a:ext cx="3485249" cy="3017520"/>
          </a:xfrm>
        </p:spPr>
        <p:txBody>
          <a:bodyPr>
            <a:noAutofit/>
          </a:bodyPr>
          <a:lstStyle/>
          <a:p>
            <a:pPr algn="just">
              <a:buFont typeface="Wingdings" panose="05000000000000000000" pitchFamily="2" charset="2"/>
              <a:buChar char="v"/>
            </a:pPr>
            <a:r>
              <a:rPr lang="en-US" sz="1800" b="1" dirty="0">
                <a:solidFill>
                  <a:srgbClr val="C00000"/>
                </a:solidFill>
              </a:rPr>
              <a:t>The destination input field is hidden</a:t>
            </a:r>
            <a:r>
              <a:rPr lang="en-US" sz="1800" dirty="0"/>
              <a:t>, floating ambiguously behind the pickup location field, this UI makes no sense. </a:t>
            </a:r>
          </a:p>
          <a:p>
            <a:pPr algn="just">
              <a:buFont typeface="Wingdings" panose="05000000000000000000" pitchFamily="2" charset="2"/>
              <a:buChar char="v"/>
            </a:pPr>
            <a:r>
              <a:rPr lang="en-US" sz="1800" b="1" dirty="0">
                <a:solidFill>
                  <a:srgbClr val="C00000"/>
                </a:solidFill>
              </a:rPr>
              <a:t>Gestural controls for zooming the map are difficult for people with poor finger dexterity.</a:t>
            </a:r>
            <a:r>
              <a:rPr lang="en-US" sz="1800" dirty="0"/>
              <a:t> Let’s add zoom and center buttons with labels, so people know what they do.</a:t>
            </a:r>
          </a:p>
          <a:p>
            <a:pPr algn="just">
              <a:buFont typeface="Wingdings" panose="05000000000000000000" pitchFamily="2" charset="2"/>
              <a:buChar char="v"/>
            </a:pPr>
            <a:r>
              <a:rPr lang="en-US" sz="1800" b="1" dirty="0">
                <a:solidFill>
                  <a:srgbClr val="C00000"/>
                </a:solidFill>
              </a:rPr>
              <a:t>Seniors are automatically price conscious, so they don’t need to know the difference between </a:t>
            </a:r>
            <a:r>
              <a:rPr lang="en-US" sz="1800" b="1" dirty="0" err="1">
                <a:solidFill>
                  <a:srgbClr val="C00000"/>
                </a:solidFill>
              </a:rPr>
              <a:t>uberX</a:t>
            </a:r>
            <a:r>
              <a:rPr lang="en-US" sz="1800" b="1" dirty="0">
                <a:solidFill>
                  <a:srgbClr val="C00000"/>
                </a:solidFill>
              </a:rPr>
              <a:t> and </a:t>
            </a:r>
            <a:r>
              <a:rPr lang="en-US" sz="1800" b="1" dirty="0" err="1">
                <a:solidFill>
                  <a:srgbClr val="C00000"/>
                </a:solidFill>
              </a:rPr>
              <a:t>uberXL</a:t>
            </a:r>
            <a:r>
              <a:rPr lang="en-US" sz="1800" b="1" dirty="0">
                <a:solidFill>
                  <a:srgbClr val="C00000"/>
                </a:solidFill>
              </a:rPr>
              <a:t> </a:t>
            </a:r>
            <a:r>
              <a:rPr lang="en-US" sz="1800" dirty="0"/>
              <a:t>and the myriad other options, just give them the cheapest option. Make it simple.</a:t>
            </a:r>
          </a:p>
        </p:txBody>
      </p:sp>
      <p:pic>
        <p:nvPicPr>
          <p:cNvPr id="4" name="Content Placeholder 3"/>
          <p:cNvPicPr>
            <a:picLocks noChangeAspect="1"/>
          </p:cNvPicPr>
          <p:nvPr/>
        </p:nvPicPr>
        <p:blipFill>
          <a:blip r:embed="rId2"/>
          <a:stretch>
            <a:fillRect/>
          </a:stretch>
        </p:blipFill>
        <p:spPr>
          <a:xfrm>
            <a:off x="4296697" y="1772816"/>
            <a:ext cx="4650325" cy="4104455"/>
          </a:xfrm>
          <a:prstGeom prst="rect">
            <a:avLst/>
          </a:prstGeom>
        </p:spPr>
      </p:pic>
    </p:spTree>
    <p:extLst>
      <p:ext uri="{BB962C8B-B14F-4D97-AF65-F5344CB8AC3E}">
        <p14:creationId xmlns:p14="http://schemas.microsoft.com/office/powerpoint/2010/main" val="36295960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8096" y="1296162"/>
            <a:ext cx="7290054" cy="620961"/>
          </a:xfrm>
        </p:spPr>
        <p:txBody>
          <a:bodyPr>
            <a:normAutofit fontScale="90000"/>
          </a:bodyPr>
          <a:lstStyle/>
          <a:p>
            <a:pPr algn="ctr"/>
            <a:r>
              <a:rPr lang="en-US" dirty="0"/>
              <a:t>ENSURING VISIBILITY OF SYSTEM STATUS</a:t>
            </a:r>
          </a:p>
        </p:txBody>
      </p:sp>
      <p:pic>
        <p:nvPicPr>
          <p:cNvPr id="4" name="Content Placeholder 3"/>
          <p:cNvPicPr>
            <a:picLocks noGrp="1" noChangeAspect="1"/>
          </p:cNvPicPr>
          <p:nvPr>
            <p:ph idx="1"/>
          </p:nvPr>
        </p:nvPicPr>
        <p:blipFill>
          <a:blip r:embed="rId2"/>
          <a:stretch>
            <a:fillRect/>
          </a:stretch>
        </p:blipFill>
        <p:spPr>
          <a:xfrm>
            <a:off x="1580621" y="2339686"/>
            <a:ext cx="2326361" cy="3661064"/>
          </a:xfrm>
          <a:prstGeom prst="rect">
            <a:avLst/>
          </a:prstGeom>
        </p:spPr>
      </p:pic>
      <p:pic>
        <p:nvPicPr>
          <p:cNvPr id="5" name="Picture 4"/>
          <p:cNvPicPr>
            <a:picLocks noChangeAspect="1"/>
          </p:cNvPicPr>
          <p:nvPr/>
        </p:nvPicPr>
        <p:blipFill>
          <a:blip r:embed="rId3"/>
          <a:stretch>
            <a:fillRect/>
          </a:stretch>
        </p:blipFill>
        <p:spPr>
          <a:xfrm>
            <a:off x="4719508" y="2318905"/>
            <a:ext cx="2415584" cy="3681845"/>
          </a:xfrm>
          <a:prstGeom prst="rect">
            <a:avLst/>
          </a:prstGeom>
        </p:spPr>
      </p:pic>
    </p:spTree>
    <p:extLst>
      <p:ext uri="{BB962C8B-B14F-4D97-AF65-F5344CB8AC3E}">
        <p14:creationId xmlns:p14="http://schemas.microsoft.com/office/powerpoint/2010/main" val="24490987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GB"/>
              <a:t>Reference and Further Reading</a:t>
            </a:r>
          </a:p>
        </p:txBody>
      </p:sp>
      <p:sp>
        <p:nvSpPr>
          <p:cNvPr id="17411" name="Rectangle 3"/>
          <p:cNvSpPr>
            <a:spLocks noGrp="1" noChangeArrowheads="1"/>
          </p:cNvSpPr>
          <p:nvPr>
            <p:ph idx="1"/>
          </p:nvPr>
        </p:nvSpPr>
        <p:spPr/>
        <p:txBody>
          <a:bodyPr/>
          <a:lstStyle/>
          <a:p>
            <a:r>
              <a:rPr lang="en-GB" sz="2400"/>
              <a:t>Chapter 11</a:t>
            </a:r>
          </a:p>
          <a:p>
            <a:endParaRPr lang="en-GB" sz="2400"/>
          </a:p>
          <a:p>
            <a:r>
              <a:rPr lang="en-GB" sz="2400">
                <a:hlinkClick r:id="rId2"/>
              </a:rPr>
              <a:t>http://speckyboy.com/2011/03/31/10-essential-web-application-usability-guidelines/</a:t>
            </a:r>
            <a:endParaRPr lang="en-GB" sz="2400"/>
          </a:p>
          <a:p>
            <a:endParaRPr lang="en-GB" sz="2400"/>
          </a:p>
          <a:p>
            <a:r>
              <a:rPr lang="en-GB" sz="2400">
                <a:hlinkClick r:id="rId3"/>
              </a:rPr>
              <a:t>http://www.uie.com/articles/usability_challenges_of_web_apps</a:t>
            </a:r>
            <a:r>
              <a:rPr lang="en-GB"/>
              <a:t> </a:t>
            </a:r>
          </a:p>
          <a:p>
            <a:endParaRPr lang="en-GB"/>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Integral</Template>
  <TotalTime>259</TotalTime>
  <Words>1677</Words>
  <Application>Microsoft Office PowerPoint</Application>
  <PresentationFormat>On-screen Show (4:3)</PresentationFormat>
  <Paragraphs>159</Paragraphs>
  <Slides>37</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37</vt:i4>
      </vt:variant>
    </vt:vector>
  </HeadingPairs>
  <TitlesOfParts>
    <vt:vector size="48" baseType="lpstr">
      <vt:lpstr>Calibri</vt:lpstr>
      <vt:lpstr>charter</vt:lpstr>
      <vt:lpstr>Lucida Calligraphy</vt:lpstr>
      <vt:lpstr>Segoe Print</vt:lpstr>
      <vt:lpstr>sohne</vt:lpstr>
      <vt:lpstr>Tahoma</vt:lpstr>
      <vt:lpstr>Tw Cen MT</vt:lpstr>
      <vt:lpstr>Tw Cen MT Condensed</vt:lpstr>
      <vt:lpstr>Wingdings</vt:lpstr>
      <vt:lpstr>Wingdings 3</vt:lpstr>
      <vt:lpstr>Integral</vt:lpstr>
      <vt:lpstr>Usability Issues in Web Applications</vt:lpstr>
      <vt:lpstr>Usability</vt:lpstr>
      <vt:lpstr>Layered Usability Model</vt:lpstr>
      <vt:lpstr>Usability of Web Applications - Issues</vt:lpstr>
      <vt:lpstr>Design Guidelines</vt:lpstr>
      <vt:lpstr>Design Guidelines ..</vt:lpstr>
      <vt:lpstr>Design Guidelines ..</vt:lpstr>
      <vt:lpstr>Design Guidelines ..</vt:lpstr>
      <vt:lpstr>Design Guidelines ..</vt:lpstr>
      <vt:lpstr>Few more Practical Guidelines</vt:lpstr>
      <vt:lpstr>2. Guide the user</vt:lpstr>
      <vt:lpstr>Guide the User</vt:lpstr>
      <vt:lpstr>3. Make (Call-to-Action) Interactive Objects Obvious</vt:lpstr>
      <vt:lpstr>PowerPoint Presentation</vt:lpstr>
      <vt:lpstr>4. Give Feedback – Both for User’s Interacting and Progressing</vt:lpstr>
      <vt:lpstr>5. Never Have Users Repeat Anything &amp; Keep Signup Info to a Minimum</vt:lpstr>
      <vt:lpstr>6. Always Have Default Values in Fields and Forms</vt:lpstr>
      <vt:lpstr>7. Explain How the Input Info Will Be Used</vt:lpstr>
      <vt:lpstr>PowerPoint Presentation</vt:lpstr>
      <vt:lpstr>8. Don’t Have any Reset or Mass-Delete Buttons</vt:lpstr>
      <vt:lpstr>9. Have Clear and Explanatory Error &amp; Success Messages</vt:lpstr>
      <vt:lpstr>PowerPoint Presentation</vt:lpstr>
      <vt:lpstr>10. Include a Clear Visual Hierarchy and Navigation (Breadcrumbs)</vt:lpstr>
      <vt:lpstr>PowerPoint Presentation</vt:lpstr>
      <vt:lpstr>Methods to ensure Visibility of System Status in UI</vt:lpstr>
      <vt:lpstr>4 Ways To Communicate the Visibility                                         of System Status in UI</vt:lpstr>
      <vt:lpstr>Visual feedback that shows user location or progress:</vt:lpstr>
      <vt:lpstr>Visual feedback that confirms user action</vt:lpstr>
      <vt:lpstr>EXAMPLE 2:Turning something ON/OFF. The change in the color of the button gives users a signal about the current state of the object.</vt:lpstr>
      <vt:lpstr>3.Visual feedback that shows system status</vt:lpstr>
      <vt:lpstr>4.TRIGGERED EVENTS</vt:lpstr>
      <vt:lpstr>4.TRIGGERED EVENTS</vt:lpstr>
      <vt:lpstr>Uber for Seniors and Poor Visibility</vt:lpstr>
      <vt:lpstr>ISSUES WITH THE UBER INTERFACE</vt:lpstr>
      <vt:lpstr>UBER INTERFACE ISSUES DISCUSSION</vt:lpstr>
      <vt:lpstr>ENSURING VISIBILITY OF SYSTEM STATUS</vt:lpstr>
      <vt:lpstr>Reference and Further Reading</vt:lpstr>
    </vt:vector>
  </TitlesOfParts>
  <Company>None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Selected Topics</dc:title>
  <dc:creator>None</dc:creator>
  <cp:lastModifiedBy>Qazi Mohsin Ijaz BUIC</cp:lastModifiedBy>
  <cp:revision>118</cp:revision>
  <dcterms:created xsi:type="dcterms:W3CDTF">2010-06-01T03:07:52Z</dcterms:created>
  <dcterms:modified xsi:type="dcterms:W3CDTF">2024-12-03T07:34:26Z</dcterms:modified>
</cp:coreProperties>
</file>